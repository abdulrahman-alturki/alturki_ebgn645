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2"/>
  </p:notesMasterIdLst>
  <p:sldIdLst>
    <p:sldId id="4037" r:id="rId3"/>
    <p:sldId id="4038" r:id="rId4"/>
    <p:sldId id="256" r:id="rId5"/>
    <p:sldId id="4039" r:id="rId6"/>
    <p:sldId id="4040" r:id="rId7"/>
    <p:sldId id="4043" r:id="rId8"/>
    <p:sldId id="4044" r:id="rId9"/>
    <p:sldId id="4045" r:id="rId10"/>
    <p:sldId id="404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294237-05EC-4F13-A9C5-6667906F4BCD}" v="263" dt="2025-11-30T17:08:21.8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15" autoAdjust="0"/>
    <p:restoredTop sz="79767" autoAdjust="0"/>
  </p:normalViewPr>
  <p:slideViewPr>
    <p:cSldViewPr snapToGrid="0">
      <p:cViewPr varScale="1">
        <p:scale>
          <a:sx n="47" d="100"/>
          <a:sy n="47" d="100"/>
        </p:scale>
        <p:origin x="1788" y="2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ulrahman Alturki" userId="3dffd26ea457cfa0" providerId="LiveId" clId="{E3C2AE02-2621-40D1-8F93-D56DB7C0A27D}"/>
    <pc:docChg chg="undo redo custSel addSld delSld modSld sldOrd modShowInfo">
      <pc:chgData name="Abdulrahman Alturki" userId="3dffd26ea457cfa0" providerId="LiveId" clId="{E3C2AE02-2621-40D1-8F93-D56DB7C0A27D}" dt="2025-12-01T03:54:31.689" v="24846" actId="20577"/>
      <pc:docMkLst>
        <pc:docMk/>
      </pc:docMkLst>
      <pc:sldChg chg="addSp delSp modSp add mod modTransition delAnim modAnim modNotesTx">
        <pc:chgData name="Abdulrahman Alturki" userId="3dffd26ea457cfa0" providerId="LiveId" clId="{E3C2AE02-2621-40D1-8F93-D56DB7C0A27D}" dt="2025-12-01T03:54:31.689" v="24846" actId="20577"/>
        <pc:sldMkLst>
          <pc:docMk/>
          <pc:sldMk cId="130695229" sldId="256"/>
        </pc:sldMkLst>
        <pc:spChg chg="mod">
          <ac:chgData name="Abdulrahman Alturki" userId="3dffd26ea457cfa0" providerId="LiveId" clId="{E3C2AE02-2621-40D1-8F93-D56DB7C0A27D}" dt="2025-11-30T17:02:00.063" v="24604" actId="20577"/>
          <ac:spMkLst>
            <pc:docMk/>
            <pc:sldMk cId="130695229" sldId="256"/>
            <ac:spMk id="6" creationId="{68710B81-0E18-1A0D-1F1A-5F9955D3C402}"/>
          </ac:spMkLst>
        </pc:spChg>
        <pc:spChg chg="mod">
          <ac:chgData name="Abdulrahman Alturki" userId="3dffd26ea457cfa0" providerId="LiveId" clId="{E3C2AE02-2621-40D1-8F93-D56DB7C0A27D}" dt="2025-12-01T03:54:31.689" v="24846" actId="20577"/>
          <ac:spMkLst>
            <pc:docMk/>
            <pc:sldMk cId="130695229" sldId="256"/>
            <ac:spMk id="13" creationId="{9B003D57-D312-502F-AC59-9000FC1511E5}"/>
          </ac:spMkLst>
        </pc:spChg>
        <pc:picChg chg="add mod">
          <ac:chgData name="Abdulrahman Alturki" userId="3dffd26ea457cfa0" providerId="LiveId" clId="{E3C2AE02-2621-40D1-8F93-D56DB7C0A27D}" dt="2025-11-30T17:07:55.239" v="24809" actId="1038"/>
          <ac:picMkLst>
            <pc:docMk/>
            <pc:sldMk cId="130695229" sldId="256"/>
            <ac:picMk id="3" creationId="{EECE40F9-3BAB-CF0E-8163-4EEB97A4B8EA}"/>
          </ac:picMkLst>
        </pc:picChg>
      </pc:sldChg>
      <pc:sldChg chg="addSp delSp modSp add del mod ord modTransition addAnim delAnim modAnim modNotesTx">
        <pc:chgData name="Abdulrahman Alturki" userId="3dffd26ea457cfa0" providerId="LiveId" clId="{E3C2AE02-2621-40D1-8F93-D56DB7C0A27D}" dt="2025-11-27T07:21:26.227" v="24582"/>
        <pc:sldMkLst>
          <pc:docMk/>
          <pc:sldMk cId="3830172913" sldId="4037"/>
        </pc:sldMkLst>
        <pc:spChg chg="mod">
          <ac:chgData name="Abdulrahman Alturki" userId="3dffd26ea457cfa0" providerId="LiveId" clId="{E3C2AE02-2621-40D1-8F93-D56DB7C0A27D}" dt="2025-11-21T00:40:00.470" v="14633" actId="20577"/>
          <ac:spMkLst>
            <pc:docMk/>
            <pc:sldMk cId="3830172913" sldId="4037"/>
            <ac:spMk id="2" creationId="{00000000-0000-0000-0000-000000000000}"/>
          </ac:spMkLst>
        </pc:spChg>
        <pc:spChg chg="mod">
          <ac:chgData name="Abdulrahman Alturki" userId="3dffd26ea457cfa0" providerId="LiveId" clId="{E3C2AE02-2621-40D1-8F93-D56DB7C0A27D}" dt="2025-11-21T00:40:27.639" v="14687" actId="20577"/>
          <ac:spMkLst>
            <pc:docMk/>
            <pc:sldMk cId="3830172913" sldId="4037"/>
            <ac:spMk id="3" creationId="{00000000-0000-0000-0000-000000000000}"/>
          </ac:spMkLst>
        </pc:spChg>
      </pc:sldChg>
      <pc:sldChg chg="addSp delSp modSp add mod ord modTransition addAnim delAnim modAnim modNotesTx">
        <pc:chgData name="Abdulrahman Alturki" userId="3dffd26ea457cfa0" providerId="LiveId" clId="{E3C2AE02-2621-40D1-8F93-D56DB7C0A27D}" dt="2025-12-01T03:54:24.435" v="24844" actId="313"/>
        <pc:sldMkLst>
          <pc:docMk/>
          <pc:sldMk cId="2018689321" sldId="4038"/>
        </pc:sldMkLst>
        <pc:spChg chg="mod">
          <ac:chgData name="Abdulrahman Alturki" userId="3dffd26ea457cfa0" providerId="LiveId" clId="{E3C2AE02-2621-40D1-8F93-D56DB7C0A27D}" dt="2025-11-21T00:51:18.264" v="15269" actId="20577"/>
          <ac:spMkLst>
            <pc:docMk/>
            <pc:sldMk cId="2018689321" sldId="4038"/>
            <ac:spMk id="6" creationId="{7E42160F-2355-3634-D251-60203897BFEA}"/>
          </ac:spMkLst>
        </pc:spChg>
        <pc:spChg chg="mod">
          <ac:chgData name="Abdulrahman Alturki" userId="3dffd26ea457cfa0" providerId="LiveId" clId="{E3C2AE02-2621-40D1-8F93-D56DB7C0A27D}" dt="2025-12-01T03:54:24.435" v="24844" actId="313"/>
          <ac:spMkLst>
            <pc:docMk/>
            <pc:sldMk cId="2018689321" sldId="4038"/>
            <ac:spMk id="13" creationId="{C8A6DF4E-9F48-C621-9F46-5015C37CFFB6}"/>
          </ac:spMkLst>
        </pc:spChg>
      </pc:sldChg>
      <pc:sldChg chg="addSp delSp modSp add mod modTransition delAnim modAnim modNotesTx">
        <pc:chgData name="Abdulrahman Alturki" userId="3dffd26ea457cfa0" providerId="LiveId" clId="{E3C2AE02-2621-40D1-8F93-D56DB7C0A27D}" dt="2025-11-27T07:21:40.255" v="24585"/>
        <pc:sldMkLst>
          <pc:docMk/>
          <pc:sldMk cId="180134503" sldId="4039"/>
        </pc:sldMkLst>
        <pc:spChg chg="add del mod">
          <ac:chgData name="Abdulrahman Alturki" userId="3dffd26ea457cfa0" providerId="LiveId" clId="{E3C2AE02-2621-40D1-8F93-D56DB7C0A27D}" dt="2025-11-21T07:09:26.531" v="18461" actId="404"/>
          <ac:spMkLst>
            <pc:docMk/>
            <pc:sldMk cId="180134503" sldId="4039"/>
            <ac:spMk id="2" creationId="{C1276BBA-5B83-AD63-F177-D6F00DD96346}"/>
          </ac:spMkLst>
        </pc:spChg>
        <pc:spChg chg="add del mod">
          <ac:chgData name="Abdulrahman Alturki" userId="3dffd26ea457cfa0" providerId="LiveId" clId="{E3C2AE02-2621-40D1-8F93-D56DB7C0A27D}" dt="2025-11-21T06:22:38.677" v="16999"/>
          <ac:spMkLst>
            <pc:docMk/>
            <pc:sldMk cId="180134503" sldId="4039"/>
            <ac:spMk id="6" creationId="{C2DB080F-3E11-F649-B17A-691634993C77}"/>
          </ac:spMkLst>
        </pc:spChg>
      </pc:sldChg>
      <pc:sldChg chg="addSp delSp modSp add mod modTransition delAnim modAnim modNotesTx">
        <pc:chgData name="Abdulrahman Alturki" userId="3dffd26ea457cfa0" providerId="LiveId" clId="{E3C2AE02-2621-40D1-8F93-D56DB7C0A27D}" dt="2025-11-27T07:21:41.060" v="24586"/>
        <pc:sldMkLst>
          <pc:docMk/>
          <pc:sldMk cId="2979937360" sldId="4040"/>
        </pc:sldMkLst>
        <pc:spChg chg="mod">
          <ac:chgData name="Abdulrahman Alturki" userId="3dffd26ea457cfa0" providerId="LiveId" clId="{E3C2AE02-2621-40D1-8F93-D56DB7C0A27D}" dt="2025-11-21T06:23:03.924" v="17016" actId="20577"/>
          <ac:spMkLst>
            <pc:docMk/>
            <pc:sldMk cId="2979937360" sldId="4040"/>
            <ac:spMk id="6" creationId="{94D100F3-4184-6AB1-45EC-ACE3EBC5ADC5}"/>
          </ac:spMkLst>
        </pc:spChg>
        <pc:spChg chg="add mod">
          <ac:chgData name="Abdulrahman Alturki" userId="3dffd26ea457cfa0" providerId="LiveId" clId="{E3C2AE02-2621-40D1-8F93-D56DB7C0A27D}" dt="2025-11-21T06:25:26.170" v="17131" actId="164"/>
          <ac:spMkLst>
            <pc:docMk/>
            <pc:sldMk cId="2979937360" sldId="4040"/>
            <ac:spMk id="7" creationId="{5AB9622C-4966-8FA4-EACE-56554D8D6C33}"/>
          </ac:spMkLst>
        </pc:spChg>
        <pc:spChg chg="add mod">
          <ac:chgData name="Abdulrahman Alturki" userId="3dffd26ea457cfa0" providerId="LiveId" clId="{E3C2AE02-2621-40D1-8F93-D56DB7C0A27D}" dt="2025-11-21T06:25:26.170" v="17131" actId="164"/>
          <ac:spMkLst>
            <pc:docMk/>
            <pc:sldMk cId="2979937360" sldId="4040"/>
            <ac:spMk id="9" creationId="{806C1DCB-7657-C7AB-9915-9DD0ABE7227B}"/>
          </ac:spMkLst>
        </pc:spChg>
        <pc:spChg chg="add mod">
          <ac:chgData name="Abdulrahman Alturki" userId="3dffd26ea457cfa0" providerId="LiveId" clId="{E3C2AE02-2621-40D1-8F93-D56DB7C0A27D}" dt="2025-11-21T06:25:26.170" v="17131" actId="164"/>
          <ac:spMkLst>
            <pc:docMk/>
            <pc:sldMk cId="2979937360" sldId="4040"/>
            <ac:spMk id="11" creationId="{509E22A1-E195-75E4-DE67-56C4A6276B8B}"/>
          </ac:spMkLst>
        </pc:spChg>
        <pc:spChg chg="add mod">
          <ac:chgData name="Abdulrahman Alturki" userId="3dffd26ea457cfa0" providerId="LiveId" clId="{E3C2AE02-2621-40D1-8F93-D56DB7C0A27D}" dt="2025-11-21T06:25:26.170" v="17131" actId="164"/>
          <ac:spMkLst>
            <pc:docMk/>
            <pc:sldMk cId="2979937360" sldId="4040"/>
            <ac:spMk id="12" creationId="{1670AD7A-9219-8DD3-1E31-80A6C5BACC8F}"/>
          </ac:spMkLst>
        </pc:spChg>
        <pc:spChg chg="add mod">
          <ac:chgData name="Abdulrahman Alturki" userId="3dffd26ea457cfa0" providerId="LiveId" clId="{E3C2AE02-2621-40D1-8F93-D56DB7C0A27D}" dt="2025-11-21T06:25:26.170" v="17131" actId="164"/>
          <ac:spMkLst>
            <pc:docMk/>
            <pc:sldMk cId="2979937360" sldId="4040"/>
            <ac:spMk id="13" creationId="{B9449A3F-B912-4CD8-74C7-745CC1B1E8F3}"/>
          </ac:spMkLst>
        </pc:spChg>
        <pc:spChg chg="add mod">
          <ac:chgData name="Abdulrahman Alturki" userId="3dffd26ea457cfa0" providerId="LiveId" clId="{E3C2AE02-2621-40D1-8F93-D56DB7C0A27D}" dt="2025-11-21T06:25:26.170" v="17131" actId="164"/>
          <ac:spMkLst>
            <pc:docMk/>
            <pc:sldMk cId="2979937360" sldId="4040"/>
            <ac:spMk id="14" creationId="{E4A88DCA-A9C3-ADBE-6024-0630F0691991}"/>
          </ac:spMkLst>
        </pc:spChg>
        <pc:grpChg chg="add mod">
          <ac:chgData name="Abdulrahman Alturki" userId="3dffd26ea457cfa0" providerId="LiveId" clId="{E3C2AE02-2621-40D1-8F93-D56DB7C0A27D}" dt="2025-11-21T06:25:26.170" v="17131" actId="164"/>
          <ac:grpSpMkLst>
            <pc:docMk/>
            <pc:sldMk cId="2979937360" sldId="4040"/>
            <ac:grpSpMk id="15" creationId="{96838B41-5247-F9ED-7433-55F957BA59D5}"/>
          </ac:grpSpMkLst>
        </pc:grpChg>
      </pc:sldChg>
      <pc:sldChg chg="addSp delSp modSp add mod modTransition delAnim modAnim modNotesTx">
        <pc:chgData name="Abdulrahman Alturki" userId="3dffd26ea457cfa0" providerId="LiveId" clId="{E3C2AE02-2621-40D1-8F93-D56DB7C0A27D}" dt="2025-11-27T07:21:44.372" v="24590"/>
        <pc:sldMkLst>
          <pc:docMk/>
          <pc:sldMk cId="1452977569" sldId="4042"/>
        </pc:sldMkLst>
      </pc:sldChg>
      <pc:sldChg chg="addSp delSp modSp add mod modTransition modAnim modNotesTx">
        <pc:chgData name="Abdulrahman Alturki" userId="3dffd26ea457cfa0" providerId="LiveId" clId="{E3C2AE02-2621-40D1-8F93-D56DB7C0A27D}" dt="2025-11-27T07:21:41.963" v="24587"/>
        <pc:sldMkLst>
          <pc:docMk/>
          <pc:sldMk cId="1040021750" sldId="4043"/>
        </pc:sldMkLst>
        <pc:spChg chg="add mod">
          <ac:chgData name="Abdulrahman Alturki" userId="3dffd26ea457cfa0" providerId="LiveId" clId="{E3C2AE02-2621-40D1-8F93-D56DB7C0A27D}" dt="2025-11-21T06:49:32.232" v="17793" actId="1036"/>
          <ac:spMkLst>
            <pc:docMk/>
            <pc:sldMk cId="1040021750" sldId="4043"/>
            <ac:spMk id="3" creationId="{4CF5D5F4-100E-FAA4-0BBF-C60CD54FA262}"/>
          </ac:spMkLst>
        </pc:spChg>
        <pc:spChg chg="add mod">
          <ac:chgData name="Abdulrahman Alturki" userId="3dffd26ea457cfa0" providerId="LiveId" clId="{E3C2AE02-2621-40D1-8F93-D56DB7C0A27D}" dt="2025-11-25T15:58:50.440" v="21791" actId="164"/>
          <ac:spMkLst>
            <pc:docMk/>
            <pc:sldMk cId="1040021750" sldId="4043"/>
            <ac:spMk id="10" creationId="{F56E597F-6A02-191A-B0FE-6922081C75AD}"/>
          </ac:spMkLst>
        </pc:spChg>
        <pc:spChg chg="add mod">
          <ac:chgData name="Abdulrahman Alturki" userId="3dffd26ea457cfa0" providerId="LiveId" clId="{E3C2AE02-2621-40D1-8F93-D56DB7C0A27D}" dt="2025-11-25T15:58:26.616" v="21789" actId="164"/>
          <ac:spMkLst>
            <pc:docMk/>
            <pc:sldMk cId="1040021750" sldId="4043"/>
            <ac:spMk id="21" creationId="{F841A5C7-AD48-7846-6456-181A06452385}"/>
          </ac:spMkLst>
        </pc:spChg>
        <pc:grpChg chg="add mod">
          <ac:chgData name="Abdulrahman Alturki" userId="3dffd26ea457cfa0" providerId="LiveId" clId="{E3C2AE02-2621-40D1-8F93-D56DB7C0A27D}" dt="2025-11-25T15:58:26.616" v="21789" actId="164"/>
          <ac:grpSpMkLst>
            <pc:docMk/>
            <pc:sldMk cId="1040021750" sldId="4043"/>
            <ac:grpSpMk id="2" creationId="{7CFDBA7A-C602-FA9D-F520-8B9CF676196D}"/>
          </ac:grpSpMkLst>
        </pc:grpChg>
        <pc:grpChg chg="add mod">
          <ac:chgData name="Abdulrahman Alturki" userId="3dffd26ea457cfa0" providerId="LiveId" clId="{E3C2AE02-2621-40D1-8F93-D56DB7C0A27D}" dt="2025-11-25T15:58:50.440" v="21791" actId="164"/>
          <ac:grpSpMkLst>
            <pc:docMk/>
            <pc:sldMk cId="1040021750" sldId="4043"/>
            <ac:grpSpMk id="5" creationId="{896764BB-890E-1635-83EC-5C2E38BAC707}"/>
          </ac:grpSpMkLst>
        </pc:grpChg>
        <pc:grpChg chg="add mod">
          <ac:chgData name="Abdulrahman Alturki" userId="3dffd26ea457cfa0" providerId="LiveId" clId="{E3C2AE02-2621-40D1-8F93-D56DB7C0A27D}" dt="2025-11-25T15:58:50.440" v="21791" actId="164"/>
          <ac:grpSpMkLst>
            <pc:docMk/>
            <pc:sldMk cId="1040021750" sldId="4043"/>
            <ac:grpSpMk id="20" creationId="{39DAD308-B6EC-AD5D-B256-342D6D7B6F24}"/>
          </ac:grpSpMkLst>
        </pc:grpChg>
        <pc:picChg chg="add del mod ord">
          <ac:chgData name="Abdulrahman Alturki" userId="3dffd26ea457cfa0" providerId="LiveId" clId="{E3C2AE02-2621-40D1-8F93-D56DB7C0A27D}" dt="2025-11-21T06:43:01.832" v="17526" actId="164"/>
          <ac:picMkLst>
            <pc:docMk/>
            <pc:sldMk cId="1040021750" sldId="4043"/>
            <ac:picMk id="18" creationId="{7A3C3213-FF29-425E-0FF4-5C70BB3CD624}"/>
          </ac:picMkLst>
        </pc:picChg>
        <pc:picChg chg="add mod">
          <ac:chgData name="Abdulrahman Alturki" userId="3dffd26ea457cfa0" providerId="LiveId" clId="{E3C2AE02-2621-40D1-8F93-D56DB7C0A27D}" dt="2025-11-21T06:43:01.832" v="17526" actId="164"/>
          <ac:picMkLst>
            <pc:docMk/>
            <pc:sldMk cId="1040021750" sldId="4043"/>
            <ac:picMk id="19" creationId="{C2B9F8DD-037A-550E-D007-4240833CA0DF}"/>
          </ac:picMkLst>
        </pc:picChg>
        <pc:picChg chg="add mod modCrop">
          <ac:chgData name="Abdulrahman Alturki" userId="3dffd26ea457cfa0" providerId="LiveId" clId="{E3C2AE02-2621-40D1-8F93-D56DB7C0A27D}" dt="2025-11-25T15:58:26.616" v="21789" actId="164"/>
          <ac:picMkLst>
            <pc:docMk/>
            <pc:sldMk cId="1040021750" sldId="4043"/>
            <ac:picMk id="23" creationId="{28B017AD-AE16-380C-2724-80AF9CAECCCF}"/>
          </ac:picMkLst>
        </pc:picChg>
        <pc:picChg chg="add mod">
          <ac:chgData name="Abdulrahman Alturki" userId="3dffd26ea457cfa0" providerId="LiveId" clId="{E3C2AE02-2621-40D1-8F93-D56DB7C0A27D}" dt="2025-11-25T15:58:26.616" v="21789" actId="164"/>
          <ac:picMkLst>
            <pc:docMk/>
            <pc:sldMk cId="1040021750" sldId="4043"/>
            <ac:picMk id="25" creationId="{BD142CF8-B349-FC8F-2E37-7C6D08D03962}"/>
          </ac:picMkLst>
        </pc:picChg>
      </pc:sldChg>
      <pc:sldChg chg="addSp delSp modSp add mod modTransition modNotesTx">
        <pc:chgData name="Abdulrahman Alturki" userId="3dffd26ea457cfa0" providerId="LiveId" clId="{E3C2AE02-2621-40D1-8F93-D56DB7C0A27D}" dt="2025-12-01T02:58:40.068" v="24829" actId="14100"/>
        <pc:sldMkLst>
          <pc:docMk/>
          <pc:sldMk cId="3395190846" sldId="4044"/>
        </pc:sldMkLst>
        <pc:spChg chg="add mod">
          <ac:chgData name="Abdulrahman Alturki" userId="3dffd26ea457cfa0" providerId="LiveId" clId="{E3C2AE02-2621-40D1-8F93-D56DB7C0A27D}" dt="2025-11-25T16:35:21.648" v="23359" actId="20577"/>
          <ac:spMkLst>
            <pc:docMk/>
            <pc:sldMk cId="3395190846" sldId="4044"/>
            <ac:spMk id="3" creationId="{75E6A6C9-D147-6D82-DFF2-4B4BC21A6598}"/>
          </ac:spMkLst>
        </pc:spChg>
        <pc:spChg chg="mod">
          <ac:chgData name="Abdulrahman Alturki" userId="3dffd26ea457cfa0" providerId="LiveId" clId="{E3C2AE02-2621-40D1-8F93-D56DB7C0A27D}" dt="2025-11-21T07:02:57.084" v="18266" actId="20577"/>
          <ac:spMkLst>
            <pc:docMk/>
            <pc:sldMk cId="3395190846" sldId="4044"/>
            <ac:spMk id="6" creationId="{E637745B-8F3C-7210-163A-7323228E30CD}"/>
          </ac:spMkLst>
        </pc:spChg>
        <pc:spChg chg="add mod">
          <ac:chgData name="Abdulrahman Alturki" userId="3dffd26ea457cfa0" providerId="LiveId" clId="{E3C2AE02-2621-40D1-8F93-D56DB7C0A27D}" dt="2025-11-21T06:57:43.227" v="17978" actId="113"/>
          <ac:spMkLst>
            <pc:docMk/>
            <pc:sldMk cId="3395190846" sldId="4044"/>
            <ac:spMk id="8" creationId="{E1B29458-334D-F8F4-FF89-F3955BFE3E2C}"/>
          </ac:spMkLst>
        </pc:spChg>
        <pc:spChg chg="add mod">
          <ac:chgData name="Abdulrahman Alturki" userId="3dffd26ea457cfa0" providerId="LiveId" clId="{E3C2AE02-2621-40D1-8F93-D56DB7C0A27D}" dt="2025-11-21T15:55:33.924" v="19157" actId="1035"/>
          <ac:spMkLst>
            <pc:docMk/>
            <pc:sldMk cId="3395190846" sldId="4044"/>
            <ac:spMk id="17" creationId="{CDAC5792-B918-1DB5-6282-5D805AD7DED4}"/>
          </ac:spMkLst>
        </pc:spChg>
        <pc:spChg chg="add mod">
          <ac:chgData name="Abdulrahman Alturki" userId="3dffd26ea457cfa0" providerId="LiveId" clId="{E3C2AE02-2621-40D1-8F93-D56DB7C0A27D}" dt="2025-11-26T03:29:55.713" v="24276" actId="1035"/>
          <ac:spMkLst>
            <pc:docMk/>
            <pc:sldMk cId="3395190846" sldId="4044"/>
            <ac:spMk id="18" creationId="{B81D712A-ABE3-918F-C57D-64ABEFFF0B14}"/>
          </ac:spMkLst>
        </pc:spChg>
        <pc:spChg chg="add mod">
          <ac:chgData name="Abdulrahman Alturki" userId="3dffd26ea457cfa0" providerId="LiveId" clId="{E3C2AE02-2621-40D1-8F93-D56DB7C0A27D}" dt="2025-11-21T15:55:48.656" v="19192" actId="1035"/>
          <ac:spMkLst>
            <pc:docMk/>
            <pc:sldMk cId="3395190846" sldId="4044"/>
            <ac:spMk id="23" creationId="{F85F17B8-9F98-6C99-3183-9FCC1A34E7EC}"/>
          </ac:spMkLst>
        </pc:spChg>
        <pc:graphicFrameChg chg="add mod modGraphic">
          <ac:chgData name="Abdulrahman Alturki" userId="3dffd26ea457cfa0" providerId="LiveId" clId="{E3C2AE02-2621-40D1-8F93-D56DB7C0A27D}" dt="2025-11-21T15:55:41.384" v="19174" actId="1035"/>
          <ac:graphicFrameMkLst>
            <pc:docMk/>
            <pc:sldMk cId="3395190846" sldId="4044"/>
            <ac:graphicFrameMk id="16" creationId="{3F33E7A7-1566-284E-C2DB-6394EBDEA5AB}"/>
          </ac:graphicFrameMkLst>
        </pc:graphicFrameChg>
        <pc:graphicFrameChg chg="add del mod modGraphic">
          <ac:chgData name="Abdulrahman Alturki" userId="3dffd26ea457cfa0" providerId="LiveId" clId="{E3C2AE02-2621-40D1-8F93-D56DB7C0A27D}" dt="2025-11-26T03:29:21.068" v="24270" actId="1036"/>
          <ac:graphicFrameMkLst>
            <pc:docMk/>
            <pc:sldMk cId="3395190846" sldId="4044"/>
            <ac:graphicFrameMk id="21" creationId="{56B0BF7C-FF35-8A84-AC87-6C9FC4333F37}"/>
          </ac:graphicFrameMkLst>
        </pc:graphicFrameChg>
        <pc:graphicFrameChg chg="add del mod modGraphic">
          <ac:chgData name="Abdulrahman Alturki" userId="3dffd26ea457cfa0" providerId="LiveId" clId="{E3C2AE02-2621-40D1-8F93-D56DB7C0A27D}" dt="2025-11-25T16:39:01.705" v="23646" actId="403"/>
          <ac:graphicFrameMkLst>
            <pc:docMk/>
            <pc:sldMk cId="3395190846" sldId="4044"/>
            <ac:graphicFrameMk id="22" creationId="{F0DBFDB3-9493-7832-F4D5-DF53139DE02E}"/>
          </ac:graphicFrameMkLst>
        </pc:graphicFrameChg>
        <pc:picChg chg="add mod">
          <ac:chgData name="Abdulrahman Alturki" userId="3dffd26ea457cfa0" providerId="LiveId" clId="{E3C2AE02-2621-40D1-8F93-D56DB7C0A27D}" dt="2025-11-25T16:38:35.165" v="23639" actId="1076"/>
          <ac:picMkLst>
            <pc:docMk/>
            <pc:sldMk cId="3395190846" sldId="4044"/>
            <ac:picMk id="2" creationId="{9909EB00-9E30-AC54-6ACC-24B1F5FD5B26}"/>
          </ac:picMkLst>
        </pc:picChg>
        <pc:picChg chg="add del mod">
          <ac:chgData name="Abdulrahman Alturki" userId="3dffd26ea457cfa0" providerId="LiveId" clId="{E3C2AE02-2621-40D1-8F93-D56DB7C0A27D}" dt="2025-12-01T02:58:09.957" v="24822" actId="478"/>
          <ac:picMkLst>
            <pc:docMk/>
            <pc:sldMk cId="3395190846" sldId="4044"/>
            <ac:picMk id="7" creationId="{D7D1824D-68EB-23CC-B604-0FC665C669D5}"/>
          </ac:picMkLst>
        </pc:picChg>
        <pc:picChg chg="add mod">
          <ac:chgData name="Abdulrahman Alturki" userId="3dffd26ea457cfa0" providerId="LiveId" clId="{E3C2AE02-2621-40D1-8F93-D56DB7C0A27D}" dt="2025-11-25T16:39:25.301" v="23649" actId="1076"/>
          <ac:picMkLst>
            <pc:docMk/>
            <pc:sldMk cId="3395190846" sldId="4044"/>
            <ac:picMk id="9" creationId="{A675E2C7-0651-82D3-94B1-574DDD810CF2}"/>
          </ac:picMkLst>
        </pc:picChg>
        <pc:picChg chg="add mod">
          <ac:chgData name="Abdulrahman Alturki" userId="3dffd26ea457cfa0" providerId="LiveId" clId="{E3C2AE02-2621-40D1-8F93-D56DB7C0A27D}" dt="2025-12-01T02:58:40.068" v="24829" actId="14100"/>
          <ac:picMkLst>
            <pc:docMk/>
            <pc:sldMk cId="3395190846" sldId="4044"/>
            <ac:picMk id="10" creationId="{093016E2-63A5-DAC8-339C-5631C9676FAE}"/>
          </ac:picMkLst>
        </pc:picChg>
      </pc:sldChg>
      <pc:sldChg chg="modSp add mod modTransition modNotesTx">
        <pc:chgData name="Abdulrahman Alturki" userId="3dffd26ea457cfa0" providerId="LiveId" clId="{E3C2AE02-2621-40D1-8F93-D56DB7C0A27D}" dt="2025-11-27T07:21:43.593" v="24589"/>
        <pc:sldMkLst>
          <pc:docMk/>
          <pc:sldMk cId="3880140820" sldId="4045"/>
        </pc:sldMkLst>
        <pc:spChg chg="mod">
          <ac:chgData name="Abdulrahman Alturki" userId="3dffd26ea457cfa0" providerId="LiveId" clId="{E3C2AE02-2621-40D1-8F93-D56DB7C0A27D}" dt="2025-11-21T07:04:38.405" v="18269" actId="108"/>
          <ac:spMkLst>
            <pc:docMk/>
            <pc:sldMk cId="3880140820" sldId="4045"/>
            <ac:spMk id="6" creationId="{7639B5B1-03C5-B1CE-D01A-5E3E60676575}"/>
          </ac:spMkLst>
        </pc:spChg>
        <pc:spChg chg="mod">
          <ac:chgData name="Abdulrahman Alturki" userId="3dffd26ea457cfa0" providerId="LiveId" clId="{E3C2AE02-2621-40D1-8F93-D56DB7C0A27D}" dt="2025-11-26T23:58:06.041" v="24555" actId="108"/>
          <ac:spMkLst>
            <pc:docMk/>
            <pc:sldMk cId="3880140820" sldId="4045"/>
            <ac:spMk id="13" creationId="{1B65DCA9-05F2-9AF7-F21C-97E473DB796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6A4377-BA4F-4049-91BD-270ACCD91B8D}" type="datetimeFigureOut">
              <a:rPr lang="en-US" smtClean="0"/>
              <a:t>11/30/2025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0E84E7-59D2-4A21-BE45-2EBB14420253}" type="slidenum">
              <a:rPr lang="en-US" smtClean="0"/>
              <a:t>‹#›</a:t>
            </a:fld>
            <a:endParaRPr lang="en-US"/>
          </a:p>
        </p:txBody>
      </p:sp>
    </p:spTree>
    <p:extLst>
      <p:ext uri="{BB962C8B-B14F-4D97-AF65-F5344CB8AC3E}">
        <p14:creationId xmlns:p14="http://schemas.microsoft.com/office/powerpoint/2010/main" val="2927970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dirty="0"/>
              <a:t>Hello everyone, my name is Abdulrahman and today I will be presenting my final project about optimizing refinery operations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D30655-6C22-4F9C-A22F-3114332B90B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75466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Refined products are mainly used for operating industries, transportations, and satisfying humans daily needs. Therefore, this study targets to show </a:t>
            </a:r>
            <a:r>
              <a:rPr lang="en-US" sz="1200" b="1" i="1" dirty="0"/>
              <a:t>how an integrated LP, NLP, and MCP modeling structure can assess refinery performance, optimize product allocation, and measure market output levels under capacity constraints and crude supply availability. The aim of this study is to show how the most optimum refinery in a certain area generates profit and adjust production figures in response to market challenges and across several scenarios to show how production levels (outcomes) vary across LP, NLP, and MCP structures.   </a:t>
            </a:r>
          </a:p>
          <a:p>
            <a:pPr rtl="0" latinLnBrk="0"/>
            <a:endParaRPr lang="en-US" dirty="0">
              <a:effectLst/>
            </a:endParaRPr>
          </a:p>
        </p:txBody>
      </p:sp>
      <p:sp>
        <p:nvSpPr>
          <p:cNvPr id="4" name="Slide Number Placeholder 3"/>
          <p:cNvSpPr>
            <a:spLocks noGrp="1"/>
          </p:cNvSpPr>
          <p:nvPr>
            <p:ph type="sldNum" sz="quarter" idx="5"/>
          </p:nvPr>
        </p:nvSpPr>
        <p:spPr/>
        <p:txBody>
          <a:bodyPr/>
          <a:lstStyle/>
          <a:p>
            <a:fld id="{2E0E84E7-59D2-4A21-BE45-2EBB14420253}" type="slidenum">
              <a:rPr lang="en-US" smtClean="0"/>
              <a:t>2</a:t>
            </a:fld>
            <a:endParaRPr lang="en-US"/>
          </a:p>
        </p:txBody>
      </p:sp>
    </p:spTree>
    <p:extLst>
      <p:ext uri="{BB962C8B-B14F-4D97-AF65-F5344CB8AC3E}">
        <p14:creationId xmlns:p14="http://schemas.microsoft.com/office/powerpoint/2010/main" val="3269921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Starting with a background, energy sector in growing rapidly and it has a high economic value, in which refineries play a critical role in that sector. Basically, the refineries convert the crude oil to refined products (more valued product).</a:t>
            </a:r>
          </a:p>
          <a:p>
            <a:endParaRPr lang="en-US" dirty="0"/>
          </a:p>
          <a:p>
            <a:r>
              <a:rPr lang="en-US" dirty="0"/>
              <a:t>Refinery operations depends on the refined product demand, crude availability and prices, operational and logistical limitations, and environmental regulations.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latin typeface="Aptos" panose="020B0004020202020204" pitchFamily="34" charset="0"/>
                <a:ea typeface="Aptos" panose="020B0004020202020204" pitchFamily="34" charset="0"/>
                <a:cs typeface="Times New Roman" panose="02020603050405020304" pitchFamily="18" charset="0"/>
              </a:rPr>
              <a:t>Efficient refinery optimization ensures reliable supply for businesses and householders, which supports economic stability and enhances energy securities</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2E0E84E7-59D2-4A21-BE45-2EBB14420253}" type="slidenum">
              <a:rPr lang="en-US" smtClean="0"/>
              <a:t>3</a:t>
            </a:fld>
            <a:endParaRPr lang="en-US"/>
          </a:p>
        </p:txBody>
      </p:sp>
    </p:spTree>
    <p:extLst>
      <p:ext uri="{BB962C8B-B14F-4D97-AF65-F5344CB8AC3E}">
        <p14:creationId xmlns:p14="http://schemas.microsoft.com/office/powerpoint/2010/main" val="20692408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dirty="0"/>
              <a:t>The model has three different sets or indices, products where we have gasoline and middle distillate. Middle distillate is diesel that is used as fuel to run the equipment and jet fuel that is used for airplane. The second set or group is the crude source, in which we have US crude and Brent Crude. Third set is the customer type, where we have customer A and B. </a:t>
            </a:r>
          </a:p>
          <a:p>
            <a:endParaRPr lang="en-US" sz="1000" dirty="0"/>
          </a:p>
          <a:p>
            <a:r>
              <a:rPr lang="en-US" sz="1000" dirty="0"/>
              <a:t>The key inputs for this model is product prices, crude prices, crude supply elasticity, product demand elasticity, and refinery processing capacity or throughput. </a:t>
            </a:r>
          </a:p>
          <a:p>
            <a:endParaRPr lang="en-US" sz="1000" dirty="0"/>
          </a:p>
          <a:p>
            <a:r>
              <a:rPr lang="en-US" sz="1000" dirty="0"/>
              <a:t>Main functions used in the model is supply slop that depends on supply elasticity, and supply intercept. In addition to region demand slope that depends on product demand elasticity, and region demand intercept. </a:t>
            </a:r>
          </a:p>
          <a:p>
            <a:endParaRPr lang="en-US" sz="1000" dirty="0"/>
          </a:p>
          <a:p>
            <a:r>
              <a:rPr lang="en-US" sz="1000" dirty="0"/>
              <a:t>In the next slides we are going to discuss the main equation utilized for each part of the code. </a:t>
            </a:r>
          </a:p>
        </p:txBody>
      </p:sp>
      <p:sp>
        <p:nvSpPr>
          <p:cNvPr id="4" name="Slide Number Placeholder 3"/>
          <p:cNvSpPr>
            <a:spLocks noGrp="1"/>
          </p:cNvSpPr>
          <p:nvPr>
            <p:ph type="sldNum" sz="quarter" idx="5"/>
          </p:nvPr>
        </p:nvSpPr>
        <p:spPr/>
        <p:txBody>
          <a:bodyPr/>
          <a:lstStyle/>
          <a:p>
            <a:fld id="{2E0E84E7-59D2-4A21-BE45-2EBB14420253}" type="slidenum">
              <a:rPr lang="en-US" smtClean="0"/>
              <a:t>4</a:t>
            </a:fld>
            <a:endParaRPr lang="en-US"/>
          </a:p>
        </p:txBody>
      </p:sp>
    </p:spTree>
    <p:extLst>
      <p:ext uri="{BB962C8B-B14F-4D97-AF65-F5344CB8AC3E}">
        <p14:creationId xmlns:p14="http://schemas.microsoft.com/office/powerpoint/2010/main" val="22009068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0" i="0" kern="1200" dirty="0">
                <a:solidFill>
                  <a:schemeClr val="tx1"/>
                </a:solidFill>
                <a:effectLst/>
                <a:latin typeface="+mn-lt"/>
                <a:ea typeface="+mn-ea"/>
                <a:cs typeface="+mn-cs"/>
              </a:rPr>
              <a:t>As we see here, the model is combination of three different part namely LP, NLP, and MCP. </a:t>
            </a:r>
          </a:p>
          <a:p>
            <a:endParaRPr lang="en-US" dirty="0"/>
          </a:p>
        </p:txBody>
      </p:sp>
      <p:sp>
        <p:nvSpPr>
          <p:cNvPr id="4" name="Slide Number Placeholder 3"/>
          <p:cNvSpPr>
            <a:spLocks noGrp="1"/>
          </p:cNvSpPr>
          <p:nvPr>
            <p:ph type="sldNum" sz="quarter" idx="5"/>
          </p:nvPr>
        </p:nvSpPr>
        <p:spPr/>
        <p:txBody>
          <a:bodyPr/>
          <a:lstStyle/>
          <a:p>
            <a:fld id="{2E0E84E7-59D2-4A21-BE45-2EBB14420253}" type="slidenum">
              <a:rPr lang="en-US" smtClean="0"/>
              <a:t>5</a:t>
            </a:fld>
            <a:endParaRPr lang="en-US"/>
          </a:p>
        </p:txBody>
      </p:sp>
    </p:spTree>
    <p:extLst>
      <p:ext uri="{BB962C8B-B14F-4D97-AF65-F5344CB8AC3E}">
        <p14:creationId xmlns:p14="http://schemas.microsoft.com/office/powerpoint/2010/main" val="24900863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C74EF-7935-7102-8215-79FD7A6CA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955B27-4FCE-764E-1B35-0FAE41FA76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40BB81-F0E7-246A-C457-B7EC4859E2AB}"/>
              </a:ext>
            </a:extLst>
          </p:cNvPr>
          <p:cNvSpPr>
            <a:spLocks noGrp="1"/>
          </p:cNvSpPr>
          <p:nvPr>
            <p:ph type="body" idx="1"/>
          </p:nvPr>
        </p:nvSpPr>
        <p:spPr/>
        <p:txBody>
          <a:bodyPr/>
          <a:lstStyle/>
          <a:p>
            <a:r>
              <a:rPr lang="en-US" dirty="0"/>
              <a:t>Looking into the key equations used for each part and starting with the LP, as we see here LP is basically looking for profit maximization under fixed prices. Profit is revenue minus cost, where revenue is calculated based on the summation of products used times their corresponding prices, and cost is calculated based on the fixed cost plus total cost of crude barrels processed. The main constrain here is the refinery capacity limitation and yield cuts boundaries. </a:t>
            </a:r>
          </a:p>
          <a:p>
            <a:endParaRPr lang="en-US" dirty="0"/>
          </a:p>
          <a:p>
            <a:r>
              <a:rPr lang="en-US" dirty="0"/>
              <a:t>Moving to the NLP, basically it looks for welfare maximization or total surplus that depends on customer surplus and producer surplus. As we see here in the graph we have two demand curves and one supply curve, in which MD has higher total surplus due to its higher market value. Generally, producer surplus is calculated based on the area bounded between supply curve and equilibrium price line, while consumer surplus is calculated based on the area bounded between demand curve and equilibrium price line.   </a:t>
            </a:r>
          </a:p>
          <a:p>
            <a:endParaRPr lang="en-US" dirty="0"/>
          </a:p>
          <a:p>
            <a:r>
              <a:rPr lang="en-US" dirty="0"/>
              <a:t>As for the MCP part, as more crude is processed in the refinery, its marginal cost increases based on the supply elasticity. For the product side, as more product available in the market, the product price goes down. Generally, in market equilibrium, quantities and prices adjust </a:t>
            </a:r>
            <a:r>
              <a:rPr lang="en-US" dirty="0" err="1"/>
              <a:t>unitll</a:t>
            </a:r>
            <a:r>
              <a:rPr lang="en-US" dirty="0"/>
              <a:t> marginal cost equals marginal revenue.</a:t>
            </a:r>
          </a:p>
        </p:txBody>
      </p:sp>
      <p:sp>
        <p:nvSpPr>
          <p:cNvPr id="4" name="Slide Number Placeholder 3">
            <a:extLst>
              <a:ext uri="{FF2B5EF4-FFF2-40B4-BE49-F238E27FC236}">
                <a16:creationId xmlns:a16="http://schemas.microsoft.com/office/drawing/2014/main" id="{FB19FAD1-E3CC-B3C1-7323-5C9252321FE0}"/>
              </a:ext>
            </a:extLst>
          </p:cNvPr>
          <p:cNvSpPr>
            <a:spLocks noGrp="1"/>
          </p:cNvSpPr>
          <p:nvPr>
            <p:ph type="sldNum" sz="quarter" idx="5"/>
          </p:nvPr>
        </p:nvSpPr>
        <p:spPr/>
        <p:txBody>
          <a:bodyPr/>
          <a:lstStyle/>
          <a:p>
            <a:fld id="{2E0E84E7-59D2-4A21-BE45-2EBB14420253}" type="slidenum">
              <a:rPr lang="en-US" smtClean="0"/>
              <a:t>6</a:t>
            </a:fld>
            <a:endParaRPr lang="en-US"/>
          </a:p>
        </p:txBody>
      </p:sp>
    </p:spTree>
    <p:extLst>
      <p:ext uri="{BB962C8B-B14F-4D97-AF65-F5344CB8AC3E}">
        <p14:creationId xmlns:p14="http://schemas.microsoft.com/office/powerpoint/2010/main" val="19198735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FDACA-797D-93AD-DBDE-5CB4DD74D2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CB90F3-5480-3DA3-8749-7B30786A4B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C82D71-9B60-E168-7D8F-9CFD6876DF19}"/>
              </a:ext>
            </a:extLst>
          </p:cNvPr>
          <p:cNvSpPr>
            <a:spLocks noGrp="1"/>
          </p:cNvSpPr>
          <p:nvPr>
            <p:ph type="body" idx="1"/>
          </p:nvPr>
        </p:nvSpPr>
        <p:spPr/>
        <p:txBody>
          <a:bodyPr/>
          <a:lstStyle/>
          <a:p>
            <a:r>
              <a:rPr lang="en-US" dirty="0"/>
              <a:t>Here are the major assumptions we have for this model. </a:t>
            </a:r>
          </a:p>
          <a:p>
            <a:pPr marL="342900" marR="0" lvl="0" indent="-342900" algn="just">
              <a:lnSpc>
                <a:spcPct val="115000"/>
              </a:lnSpc>
              <a:buFont typeface="+mj-lt"/>
              <a:buAutoNum type="arabicPeriod"/>
            </a:pPr>
            <a:r>
              <a:rPr lang="en-US" sz="1200" kern="100" dirty="0">
                <a:effectLst/>
                <a:latin typeface="Times New Roman" panose="02020603050405020304" pitchFamily="18" charset="0"/>
                <a:ea typeface="Aptos" panose="020B0004020202020204" pitchFamily="34" charset="0"/>
                <a:cs typeface="Arial" panose="020B0604020202020204" pitchFamily="34" charset="0"/>
              </a:rPr>
              <a:t>The refinery produces only two products, namely, gasoline and MD.</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just">
              <a:lnSpc>
                <a:spcPct val="115000"/>
              </a:lnSpc>
              <a:buFont typeface="+mj-lt"/>
              <a:buAutoNum type="arabicPeriod"/>
            </a:pPr>
            <a:r>
              <a:rPr lang="en-US" sz="1200" kern="100" dirty="0">
                <a:effectLst/>
                <a:latin typeface="Times New Roman" panose="02020603050405020304" pitchFamily="18" charset="0"/>
                <a:ea typeface="Aptos" panose="020B0004020202020204" pitchFamily="34" charset="0"/>
                <a:cs typeface="Arial" panose="020B0604020202020204" pitchFamily="34" charset="0"/>
              </a:rPr>
              <a:t>Fixed capacity of refinery throughput at 140,000 </a:t>
            </a:r>
            <a:r>
              <a:rPr lang="en-US" sz="1200" kern="100" dirty="0" err="1">
                <a:effectLst/>
                <a:latin typeface="Times New Roman" panose="02020603050405020304" pitchFamily="18" charset="0"/>
                <a:ea typeface="Aptos" panose="020B0004020202020204" pitchFamily="34" charset="0"/>
                <a:cs typeface="Arial" panose="020B0604020202020204" pitchFamily="34" charset="0"/>
              </a:rPr>
              <a:t>bbl</a:t>
            </a:r>
            <a:r>
              <a:rPr lang="en-US" sz="1200" kern="100" dirty="0">
                <a:effectLst/>
                <a:latin typeface="Times New Roman" panose="02020603050405020304" pitchFamily="18" charset="0"/>
                <a:ea typeface="Aptos" panose="020B0004020202020204" pitchFamily="34" charset="0"/>
                <a:cs typeface="Arial" panose="020B0604020202020204" pitchFamily="34" charset="0"/>
              </a:rPr>
              <a:t>/day. </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just">
              <a:lnSpc>
                <a:spcPct val="115000"/>
              </a:lnSpc>
              <a:buFont typeface="+mj-lt"/>
              <a:buAutoNum type="arabicPeriod"/>
            </a:pPr>
            <a:r>
              <a:rPr lang="en-US" sz="1200" kern="100" dirty="0">
                <a:effectLst/>
                <a:latin typeface="Times New Roman" panose="02020603050405020304" pitchFamily="18" charset="0"/>
                <a:ea typeface="Aptos" panose="020B0004020202020204" pitchFamily="34" charset="0"/>
                <a:cs typeface="Arial" panose="020B0604020202020204" pitchFamily="34" charset="0"/>
              </a:rPr>
              <a:t>Single period model, in which time change effect is not considered here. </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just">
              <a:lnSpc>
                <a:spcPct val="115000"/>
              </a:lnSpc>
              <a:buFont typeface="+mj-lt"/>
              <a:buAutoNum type="arabicPeriod"/>
            </a:pPr>
            <a:r>
              <a:rPr lang="en-US" sz="1200" kern="100" dirty="0">
                <a:effectLst/>
                <a:latin typeface="Times New Roman" panose="02020603050405020304" pitchFamily="18" charset="0"/>
                <a:ea typeface="Aptos" panose="020B0004020202020204" pitchFamily="34" charset="0"/>
                <a:cs typeface="Arial" panose="020B0604020202020204" pitchFamily="34" charset="0"/>
              </a:rPr>
              <a:t>Optimization is done by single refinery as it is the most cost-effective refinery in the area</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just">
              <a:lnSpc>
                <a:spcPct val="115000"/>
              </a:lnSpc>
              <a:spcAft>
                <a:spcPts val="800"/>
              </a:spcAft>
              <a:buFont typeface="+mj-lt"/>
              <a:buAutoNum type="arabicPeriod"/>
            </a:pPr>
            <a:r>
              <a:rPr lang="en-US" sz="1200" kern="100" dirty="0">
                <a:effectLst/>
                <a:latin typeface="Times New Roman" panose="02020603050405020304" pitchFamily="18" charset="0"/>
                <a:ea typeface="Aptos" panose="020B0004020202020204" pitchFamily="34" charset="0"/>
                <a:cs typeface="Arial" panose="020B0604020202020204" pitchFamily="34" charset="0"/>
              </a:rPr>
              <a:t>Other supply nodes can meet the rest of the demand, but they are less profitable than this refinery. </a:t>
            </a:r>
          </a:p>
          <a:p>
            <a:pPr marL="0" marR="0" lvl="0" indent="0" algn="just">
              <a:lnSpc>
                <a:spcPct val="115000"/>
              </a:lnSpc>
              <a:spcAft>
                <a:spcPts val="800"/>
              </a:spcAft>
              <a:buFont typeface="+mj-lt"/>
              <a:buNone/>
            </a:pPr>
            <a:endParaRPr lang="en-US" sz="1200" kern="100" dirty="0">
              <a:effectLst/>
              <a:latin typeface="Times New Roman" panose="02020603050405020304" pitchFamily="18" charset="0"/>
              <a:ea typeface="Aptos" panose="020B0004020202020204" pitchFamily="34" charset="0"/>
              <a:cs typeface="Arial" panose="020B0604020202020204" pitchFamily="34" charset="0"/>
            </a:endParaRPr>
          </a:p>
          <a:p>
            <a:pPr marL="0" marR="0" lvl="0" indent="0" algn="just">
              <a:lnSpc>
                <a:spcPct val="115000"/>
              </a:lnSpc>
              <a:spcAft>
                <a:spcPts val="800"/>
              </a:spcAft>
              <a:buFont typeface="+mj-lt"/>
              <a:buNone/>
            </a:pPr>
            <a:r>
              <a:rPr lang="en-US" sz="1200" kern="100" dirty="0">
                <a:effectLst/>
                <a:latin typeface="Times New Roman" panose="02020603050405020304" pitchFamily="18" charset="0"/>
                <a:ea typeface="Aptos" panose="020B0004020202020204" pitchFamily="34" charset="0"/>
                <a:cs typeface="Arial" panose="020B0604020202020204" pitchFamily="34" charset="0"/>
              </a:rPr>
              <a:t>Looking into the results, we see here LP generate 42,000 bbl./day of gasoline and 98,000 bbl./day of MD with total profit of 11.6 million dollar daily. </a:t>
            </a:r>
          </a:p>
          <a:p>
            <a:pPr marL="0" marR="0" lvl="0" indent="0" algn="just">
              <a:lnSpc>
                <a:spcPct val="115000"/>
              </a:lnSpc>
              <a:spcAft>
                <a:spcPts val="800"/>
              </a:spcAft>
              <a:buFont typeface="+mj-lt"/>
              <a:buNone/>
            </a:pPr>
            <a:endParaRPr lang="en-US" sz="1200" kern="100" dirty="0">
              <a:effectLst/>
              <a:latin typeface="Times New Roman" panose="02020603050405020304" pitchFamily="18"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15000"/>
              </a:lnSpc>
              <a:spcBef>
                <a:spcPts val="0"/>
              </a:spcBef>
              <a:spcAft>
                <a:spcPts val="800"/>
              </a:spcAft>
              <a:buClrTx/>
              <a:buSzTx/>
              <a:buFont typeface="+mj-lt"/>
              <a:buNone/>
              <a:tabLst/>
              <a:defRPr/>
            </a:pPr>
            <a:r>
              <a:rPr lang="en-US" sz="1200" kern="100" dirty="0">
                <a:effectLst/>
                <a:latin typeface="Times New Roman" panose="02020603050405020304" pitchFamily="18" charset="0"/>
                <a:ea typeface="Aptos" panose="020B0004020202020204" pitchFamily="34" charset="0"/>
                <a:cs typeface="Arial" panose="020B0604020202020204" pitchFamily="34" charset="0"/>
              </a:rPr>
              <a:t>As NLP looks for total welfare maximization, we see it has a value of </a:t>
            </a:r>
            <a:r>
              <a:rPr lang="en-US" sz="1200" kern="100" dirty="0">
                <a:effectLst/>
              </a:rPr>
              <a:t>$ 9.7 million</a:t>
            </a: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0" marR="0" lvl="0" indent="0" algn="just">
              <a:lnSpc>
                <a:spcPct val="115000"/>
              </a:lnSpc>
              <a:spcAft>
                <a:spcPts val="800"/>
              </a:spcAft>
              <a:buFont typeface="+mj-lt"/>
              <a:buNone/>
            </a:pP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pPr marL="0" marR="0" lvl="0" indent="0" algn="just" defTabSz="914400" rtl="0" eaLnBrk="1" fontAlgn="auto" latinLnBrk="0" hangingPunct="1">
              <a:lnSpc>
                <a:spcPct val="115000"/>
              </a:lnSpc>
              <a:spcBef>
                <a:spcPts val="0"/>
              </a:spcBef>
              <a:spcAft>
                <a:spcPts val="800"/>
              </a:spcAft>
              <a:buClrTx/>
              <a:buSzTx/>
              <a:buFont typeface="+mj-lt"/>
              <a:buNone/>
              <a:tabLst/>
              <a:defRPr/>
            </a:pPr>
            <a:r>
              <a:rPr lang="en-US" sz="1200" kern="100" dirty="0">
                <a:effectLst/>
                <a:latin typeface="Aptos" panose="020B0004020202020204" pitchFamily="34" charset="0"/>
                <a:ea typeface="Aptos" panose="020B0004020202020204" pitchFamily="34" charset="0"/>
                <a:cs typeface="Arial" panose="020B0604020202020204" pitchFamily="34" charset="0"/>
              </a:rPr>
              <a:t>Last but not least, we have here MCP outputs, which highlights the full equilibrium in which the crude it keep processed till MR=MC or we hit the limitations. </a:t>
            </a:r>
            <a:r>
              <a:rPr lang="en-US" sz="1200" kern="1200" dirty="0">
                <a:solidFill>
                  <a:schemeClr val="tx1"/>
                </a:solidFill>
                <a:effectLst/>
                <a:latin typeface="+mn-lt"/>
                <a:ea typeface="+mn-ea"/>
                <a:cs typeface="+mn-cs"/>
              </a:rPr>
              <a:t>Compared to the LP part, we notice MCP part produces more gasoline and less MD due to price adjustment under equilibrium. </a:t>
            </a:r>
            <a:r>
              <a:rPr lang="en-US" sz="1200" kern="1200">
                <a:solidFill>
                  <a:schemeClr val="tx1"/>
                </a:solidFill>
                <a:effectLst/>
                <a:latin typeface="+mn-lt"/>
                <a:ea typeface="+mn-ea"/>
                <a:cs typeface="+mn-cs"/>
              </a:rPr>
              <a:t>Which means, under </a:t>
            </a:r>
            <a:r>
              <a:rPr lang="en-US" sz="1200" kern="1200" dirty="0">
                <a:solidFill>
                  <a:schemeClr val="tx1"/>
                </a:solidFill>
                <a:effectLst/>
                <a:latin typeface="+mn-lt"/>
                <a:ea typeface="+mn-ea"/>
                <a:cs typeface="+mn-cs"/>
              </a:rPr>
              <a:t>equilibrium, gasoline shows more valuable price as production increases, while MD loses its value quicker. As a result of that, the model shifts production toward gasoline to maximize the economic benefit. </a:t>
            </a:r>
          </a:p>
          <a:p>
            <a:pPr marL="0" marR="0" lvl="0" indent="0" algn="just">
              <a:lnSpc>
                <a:spcPct val="115000"/>
              </a:lnSpc>
              <a:spcAft>
                <a:spcPts val="800"/>
              </a:spcAft>
              <a:buFont typeface="+mj-lt"/>
              <a:buNone/>
            </a:pPr>
            <a:endParaRPr lang="en-US" sz="1200" kern="100" dirty="0">
              <a:effectLst/>
              <a:latin typeface="Aptos" panose="020B0004020202020204" pitchFamily="34" charset="0"/>
              <a:ea typeface="Aptos" panose="020B0004020202020204" pitchFamily="34" charset="0"/>
              <a:cs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E7AD1567-754F-C8DD-BC3D-D7191A87013E}"/>
              </a:ext>
            </a:extLst>
          </p:cNvPr>
          <p:cNvSpPr>
            <a:spLocks noGrp="1"/>
          </p:cNvSpPr>
          <p:nvPr>
            <p:ph type="sldNum" sz="quarter" idx="5"/>
          </p:nvPr>
        </p:nvSpPr>
        <p:spPr/>
        <p:txBody>
          <a:bodyPr/>
          <a:lstStyle/>
          <a:p>
            <a:fld id="{2E0E84E7-59D2-4A21-BE45-2EBB14420253}" type="slidenum">
              <a:rPr lang="en-US" smtClean="0"/>
              <a:t>7</a:t>
            </a:fld>
            <a:endParaRPr lang="en-US"/>
          </a:p>
        </p:txBody>
      </p:sp>
    </p:spTree>
    <p:extLst>
      <p:ext uri="{BB962C8B-B14F-4D97-AF65-F5344CB8AC3E}">
        <p14:creationId xmlns:p14="http://schemas.microsoft.com/office/powerpoint/2010/main" val="27000785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98800-9862-2183-386B-4A7DE131C1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85B6D4-FE5B-3BD3-ACB8-1A5A91AED59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3017402-DE3B-4844-3668-B43BA5641FDB}"/>
              </a:ext>
            </a:extLst>
          </p:cNvPr>
          <p:cNvSpPr>
            <a:spLocks noGrp="1"/>
          </p:cNvSpPr>
          <p:nvPr>
            <p:ph type="body" idx="1"/>
          </p:nvPr>
        </p:nvSpPr>
        <p:spPr/>
        <p:txBody>
          <a:bodyPr/>
          <a:lstStyle/>
          <a:p>
            <a:pPr rtl="0" latinLnBrk="0"/>
            <a:r>
              <a:rPr lang="en-US" dirty="0">
                <a:effectLst/>
              </a:rPr>
              <a:t>Since we see value of this model and going with expansion will help and generate more profitability. </a:t>
            </a:r>
            <a:r>
              <a:rPr lang="en-US" sz="1200" kern="1200" dirty="0">
                <a:solidFill>
                  <a:schemeClr val="tx1"/>
                </a:solidFill>
                <a:effectLst/>
                <a:latin typeface="+mn-lt"/>
                <a:ea typeface="+mn-ea"/>
                <a:cs typeface="+mn-cs"/>
              </a:rPr>
              <a:t>With unlimited time, funding, energy, and personnel, the project would upgrade into a national centralized optimization tool that </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optimizes the entire refined products supply chain. </a:t>
            </a:r>
          </a:p>
          <a:p>
            <a:pPr rtl="0" latinLnBrk="0"/>
            <a:endParaRPr lang="en-US" sz="1200" kern="100" dirty="0">
              <a:latin typeface="Aptos" panose="020B0004020202020204" pitchFamily="34" charset="0"/>
              <a:ea typeface="Aptos" panose="020B0004020202020204" pitchFamily="34" charset="0"/>
              <a:cs typeface="Times New Roman" panose="02020603050405020304" pitchFamily="18" charset="0"/>
            </a:endParaRPr>
          </a:p>
          <a:p>
            <a:pPr rtl="0" latinLnBrk="0"/>
            <a:r>
              <a:rPr lang="en-US" sz="1200" kern="100" dirty="0">
                <a:latin typeface="Aptos" panose="020B0004020202020204" pitchFamily="34" charset="0"/>
                <a:ea typeface="Aptos" panose="020B0004020202020204" pitchFamily="34" charset="0"/>
                <a:cs typeface="Times New Roman" panose="02020603050405020304" pitchFamily="18" charset="0"/>
              </a:rPr>
              <a:t>Integrating the operational and logistical aspects into this unified system, considering maintenance activities schedule, storage capacity, production rates, and demand commitment to produce efficient supply plan. </a:t>
            </a:r>
          </a:p>
          <a:p>
            <a:pPr rtl="0" latinLnBrk="0"/>
            <a:endParaRPr lang="en-US" sz="1200" kern="100" dirty="0">
              <a:latin typeface="Aptos" panose="020B0004020202020204" pitchFamily="34" charset="0"/>
              <a:ea typeface="Aptos" panose="020B0004020202020204" pitchFamily="34" charset="0"/>
              <a:cs typeface="Times New Roman" panose="02020603050405020304" pitchFamily="18" charset="0"/>
            </a:endParaRPr>
          </a:p>
          <a:p>
            <a:pPr rtl="0" latinLnBrk="0"/>
            <a:r>
              <a:rPr lang="en-US" sz="1200" kern="100" dirty="0">
                <a:latin typeface="Aptos" panose="020B0004020202020204" pitchFamily="34" charset="0"/>
                <a:ea typeface="Aptos" panose="020B0004020202020204" pitchFamily="34" charset="0"/>
                <a:cs typeface="Times New Roman" panose="02020603050405020304" pitchFamily="18" charset="0"/>
              </a:rPr>
              <a:t>Applying smart advisory tool that monitors the operations very closely and make quick and efficient decisions quickly.</a:t>
            </a:r>
          </a:p>
          <a:p>
            <a:pPr rtl="0" latinLnBrk="0"/>
            <a:endParaRPr lang="en-US" sz="1200" kern="100" dirty="0">
              <a:latin typeface="Aptos" panose="020B0004020202020204" pitchFamily="34" charset="0"/>
              <a:ea typeface="Aptos" panose="020B0004020202020204" pitchFamily="34" charset="0"/>
              <a:cs typeface="Times New Roman" panose="02020603050405020304" pitchFamily="18" charset="0"/>
            </a:endParaRPr>
          </a:p>
          <a:p>
            <a:pPr rtl="0" latinLnBrk="0"/>
            <a:r>
              <a:rPr lang="en-US" sz="1200" kern="100" dirty="0">
                <a:latin typeface="Aptos" panose="020B0004020202020204" pitchFamily="34" charset="0"/>
                <a:ea typeface="Aptos" panose="020B0004020202020204" pitchFamily="34" charset="0"/>
                <a:cs typeface="Times New Roman" panose="02020603050405020304" pitchFamily="18" charset="0"/>
              </a:rPr>
              <a:t>Introducing KPIs performance that measure supply reliability and customer satisfactions, aiming for continuous improvement  </a:t>
            </a:r>
          </a:p>
          <a:p>
            <a:pPr rtl="0" latinLnBrk="0"/>
            <a:endParaRPr lang="en-US" sz="1200" kern="100" dirty="0">
              <a:latin typeface="Aptos" panose="020B0004020202020204" pitchFamily="34" charset="0"/>
              <a:ea typeface="Aptos" panose="020B0004020202020204" pitchFamily="34" charset="0"/>
              <a:cs typeface="Times New Roman" panose="02020603050405020304" pitchFamily="18" charset="0"/>
            </a:endParaRPr>
          </a:p>
          <a:p>
            <a:pPr rtl="0" latinLnBrk="0"/>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rtl="0" latinLnBrk="0"/>
            <a:endParaRPr lang="en-US" dirty="0">
              <a:effectLst/>
            </a:endParaRPr>
          </a:p>
        </p:txBody>
      </p:sp>
      <p:sp>
        <p:nvSpPr>
          <p:cNvPr id="4" name="Slide Number Placeholder 3">
            <a:extLst>
              <a:ext uri="{FF2B5EF4-FFF2-40B4-BE49-F238E27FC236}">
                <a16:creationId xmlns:a16="http://schemas.microsoft.com/office/drawing/2014/main" id="{7C23F618-BC4B-B5FE-1E38-0BDE8E93003E}"/>
              </a:ext>
            </a:extLst>
          </p:cNvPr>
          <p:cNvSpPr>
            <a:spLocks noGrp="1"/>
          </p:cNvSpPr>
          <p:nvPr>
            <p:ph type="sldNum" sz="quarter" idx="5"/>
          </p:nvPr>
        </p:nvSpPr>
        <p:spPr/>
        <p:txBody>
          <a:bodyPr/>
          <a:lstStyle/>
          <a:p>
            <a:fld id="{2E0E84E7-59D2-4A21-BE45-2EBB14420253}" type="slidenum">
              <a:rPr lang="en-US" smtClean="0"/>
              <a:t>8</a:t>
            </a:fld>
            <a:endParaRPr lang="en-US"/>
          </a:p>
        </p:txBody>
      </p:sp>
    </p:spTree>
    <p:extLst>
      <p:ext uri="{BB962C8B-B14F-4D97-AF65-F5344CB8AC3E}">
        <p14:creationId xmlns:p14="http://schemas.microsoft.com/office/powerpoint/2010/main" val="5899355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651C6-1B9E-AA67-E961-B220FAE845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79688C-9761-85C6-8609-AEAC1DB07B3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FEDF766-AF46-B4A8-E16F-9F4EAE0001AB}"/>
              </a:ext>
            </a:extLst>
          </p:cNvPr>
          <p:cNvSpPr>
            <a:spLocks noGrp="1"/>
          </p:cNvSpPr>
          <p:nvPr>
            <p:ph type="body" idx="1"/>
          </p:nvPr>
        </p:nvSpPr>
        <p:spPr/>
        <p:txBody>
          <a:bodyPr/>
          <a:lstStyle/>
          <a:p>
            <a:r>
              <a:rPr lang="en-GB" dirty="0"/>
              <a:t>With this I will conclude </a:t>
            </a:r>
            <a:r>
              <a:rPr lang="en-GB"/>
              <a:t>my presentation, </a:t>
            </a:r>
            <a:r>
              <a:rPr lang="en-GB" dirty="0"/>
              <a:t>that you for your time and attention.</a:t>
            </a:r>
          </a:p>
        </p:txBody>
      </p:sp>
      <p:sp>
        <p:nvSpPr>
          <p:cNvPr id="4" name="Slide Number Placeholder 3">
            <a:extLst>
              <a:ext uri="{FF2B5EF4-FFF2-40B4-BE49-F238E27FC236}">
                <a16:creationId xmlns:a16="http://schemas.microsoft.com/office/drawing/2014/main" id="{DD5AC802-13C8-222D-BA3A-1E36D20FD90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D30655-6C22-4F9C-A22F-3114332B90B3}"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53070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0D72E-201C-5E64-5E7A-837F881E322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5326AAA-65AA-BD0E-F83C-B46656E09F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09C70C5-3359-4505-AFED-F23EC1555CA2}"/>
              </a:ext>
            </a:extLst>
          </p:cNvPr>
          <p:cNvSpPr>
            <a:spLocks noGrp="1"/>
          </p:cNvSpPr>
          <p:nvPr>
            <p:ph type="dt" sz="half" idx="10"/>
          </p:nvPr>
        </p:nvSpPr>
        <p:spPr/>
        <p:txBody>
          <a:bodyPr/>
          <a:lstStyle/>
          <a:p>
            <a:fld id="{397742B7-90A2-4CED-85F0-85F1E541D4EA}" type="datetimeFigureOut">
              <a:rPr lang="en-US" smtClean="0"/>
              <a:t>11/30/2025</a:t>
            </a:fld>
            <a:endParaRPr lang="en-US"/>
          </a:p>
        </p:txBody>
      </p:sp>
      <p:sp>
        <p:nvSpPr>
          <p:cNvPr id="5" name="Footer Placeholder 4">
            <a:extLst>
              <a:ext uri="{FF2B5EF4-FFF2-40B4-BE49-F238E27FC236}">
                <a16:creationId xmlns:a16="http://schemas.microsoft.com/office/drawing/2014/main" id="{6FB51944-4AA9-7C30-A76F-D945C17776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985E29-6475-9B33-810F-7E450EE6BDED}"/>
              </a:ext>
            </a:extLst>
          </p:cNvPr>
          <p:cNvSpPr>
            <a:spLocks noGrp="1"/>
          </p:cNvSpPr>
          <p:nvPr>
            <p:ph type="sldNum" sz="quarter" idx="12"/>
          </p:nvPr>
        </p:nvSpPr>
        <p:spPr/>
        <p:txBody>
          <a:bodyPr/>
          <a:lstStyle/>
          <a:p>
            <a:fld id="{582BC25E-8CC1-49A3-9CB4-E2273F8455FA}" type="slidenum">
              <a:rPr lang="en-US" smtClean="0"/>
              <a:t>‹#›</a:t>
            </a:fld>
            <a:endParaRPr lang="en-US"/>
          </a:p>
        </p:txBody>
      </p:sp>
    </p:spTree>
    <p:extLst>
      <p:ext uri="{BB962C8B-B14F-4D97-AF65-F5344CB8AC3E}">
        <p14:creationId xmlns:p14="http://schemas.microsoft.com/office/powerpoint/2010/main" val="1541585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FE3E0-165F-60D8-01ED-45EF89C09E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0BB583-40F5-0CD4-1491-2B215AC2E8C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EFBE30-0038-01A6-1AB0-54463EBE3FEC}"/>
              </a:ext>
            </a:extLst>
          </p:cNvPr>
          <p:cNvSpPr>
            <a:spLocks noGrp="1"/>
          </p:cNvSpPr>
          <p:nvPr>
            <p:ph type="dt" sz="half" idx="10"/>
          </p:nvPr>
        </p:nvSpPr>
        <p:spPr/>
        <p:txBody>
          <a:bodyPr/>
          <a:lstStyle/>
          <a:p>
            <a:fld id="{397742B7-90A2-4CED-85F0-85F1E541D4EA}" type="datetimeFigureOut">
              <a:rPr lang="en-US" smtClean="0"/>
              <a:t>11/30/2025</a:t>
            </a:fld>
            <a:endParaRPr lang="en-US"/>
          </a:p>
        </p:txBody>
      </p:sp>
      <p:sp>
        <p:nvSpPr>
          <p:cNvPr id="5" name="Footer Placeholder 4">
            <a:extLst>
              <a:ext uri="{FF2B5EF4-FFF2-40B4-BE49-F238E27FC236}">
                <a16:creationId xmlns:a16="http://schemas.microsoft.com/office/drawing/2014/main" id="{299F0A64-0919-50D2-DA81-EB6889652C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7CAAB2-F99D-CE11-4E11-5AEBC1883B20}"/>
              </a:ext>
            </a:extLst>
          </p:cNvPr>
          <p:cNvSpPr>
            <a:spLocks noGrp="1"/>
          </p:cNvSpPr>
          <p:nvPr>
            <p:ph type="sldNum" sz="quarter" idx="12"/>
          </p:nvPr>
        </p:nvSpPr>
        <p:spPr/>
        <p:txBody>
          <a:bodyPr/>
          <a:lstStyle/>
          <a:p>
            <a:fld id="{582BC25E-8CC1-49A3-9CB4-E2273F8455FA}" type="slidenum">
              <a:rPr lang="en-US" smtClean="0"/>
              <a:t>‹#›</a:t>
            </a:fld>
            <a:endParaRPr lang="en-US"/>
          </a:p>
        </p:txBody>
      </p:sp>
    </p:spTree>
    <p:extLst>
      <p:ext uri="{BB962C8B-B14F-4D97-AF65-F5344CB8AC3E}">
        <p14:creationId xmlns:p14="http://schemas.microsoft.com/office/powerpoint/2010/main" val="3049034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DF43C-8BF0-0FF2-4796-67BC0D185A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DC8433F-FC8A-4521-91B6-02767B6F2B2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09AB40-7444-22BA-640A-881CD65541B5}"/>
              </a:ext>
            </a:extLst>
          </p:cNvPr>
          <p:cNvSpPr>
            <a:spLocks noGrp="1"/>
          </p:cNvSpPr>
          <p:nvPr>
            <p:ph type="dt" sz="half" idx="10"/>
          </p:nvPr>
        </p:nvSpPr>
        <p:spPr/>
        <p:txBody>
          <a:bodyPr/>
          <a:lstStyle/>
          <a:p>
            <a:fld id="{397742B7-90A2-4CED-85F0-85F1E541D4EA}" type="datetimeFigureOut">
              <a:rPr lang="en-US" smtClean="0"/>
              <a:t>11/30/2025</a:t>
            </a:fld>
            <a:endParaRPr lang="en-US"/>
          </a:p>
        </p:txBody>
      </p:sp>
      <p:sp>
        <p:nvSpPr>
          <p:cNvPr id="5" name="Footer Placeholder 4">
            <a:extLst>
              <a:ext uri="{FF2B5EF4-FFF2-40B4-BE49-F238E27FC236}">
                <a16:creationId xmlns:a16="http://schemas.microsoft.com/office/drawing/2014/main" id="{53384D41-0D3F-28F1-66D1-D0730F25DB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6CEA53-A4B5-BC5B-3AD7-008ABA4392CF}"/>
              </a:ext>
            </a:extLst>
          </p:cNvPr>
          <p:cNvSpPr>
            <a:spLocks noGrp="1"/>
          </p:cNvSpPr>
          <p:nvPr>
            <p:ph type="sldNum" sz="quarter" idx="12"/>
          </p:nvPr>
        </p:nvSpPr>
        <p:spPr/>
        <p:txBody>
          <a:bodyPr/>
          <a:lstStyle/>
          <a:p>
            <a:fld id="{582BC25E-8CC1-49A3-9CB4-E2273F8455FA}" type="slidenum">
              <a:rPr lang="en-US" smtClean="0"/>
              <a:t>‹#›</a:t>
            </a:fld>
            <a:endParaRPr lang="en-US"/>
          </a:p>
        </p:txBody>
      </p:sp>
    </p:spTree>
    <p:extLst>
      <p:ext uri="{BB962C8B-B14F-4D97-AF65-F5344CB8AC3E}">
        <p14:creationId xmlns:p14="http://schemas.microsoft.com/office/powerpoint/2010/main" val="116231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B77DB-4CAE-7BB1-3632-4628DE5F6C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089163-67DD-7B2E-795F-8962AD4BB9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E60C2F-2F2E-7D97-27E1-A67FEA87790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6A5208-0B47-3117-5C99-B3B7C51DEC21}"/>
              </a:ext>
            </a:extLst>
          </p:cNvPr>
          <p:cNvSpPr>
            <a:spLocks noGrp="1"/>
          </p:cNvSpPr>
          <p:nvPr>
            <p:ph type="dt" sz="half" idx="10"/>
          </p:nvPr>
        </p:nvSpPr>
        <p:spPr/>
        <p:txBody>
          <a:bodyPr/>
          <a:lstStyle/>
          <a:p>
            <a:fld id="{397742B7-90A2-4CED-85F0-85F1E541D4EA}" type="datetimeFigureOut">
              <a:rPr lang="en-US" smtClean="0"/>
              <a:t>11/30/2025</a:t>
            </a:fld>
            <a:endParaRPr lang="en-US"/>
          </a:p>
        </p:txBody>
      </p:sp>
      <p:sp>
        <p:nvSpPr>
          <p:cNvPr id="6" name="Footer Placeholder 5">
            <a:extLst>
              <a:ext uri="{FF2B5EF4-FFF2-40B4-BE49-F238E27FC236}">
                <a16:creationId xmlns:a16="http://schemas.microsoft.com/office/drawing/2014/main" id="{25738994-3724-6D74-DBBE-DB11A0B9DA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B9B72B-97C3-CFEA-BB3A-BBD453863965}"/>
              </a:ext>
            </a:extLst>
          </p:cNvPr>
          <p:cNvSpPr>
            <a:spLocks noGrp="1"/>
          </p:cNvSpPr>
          <p:nvPr>
            <p:ph type="sldNum" sz="quarter" idx="12"/>
          </p:nvPr>
        </p:nvSpPr>
        <p:spPr/>
        <p:txBody>
          <a:bodyPr/>
          <a:lstStyle/>
          <a:p>
            <a:fld id="{582BC25E-8CC1-49A3-9CB4-E2273F8455FA}" type="slidenum">
              <a:rPr lang="en-US" smtClean="0"/>
              <a:t>‹#›</a:t>
            </a:fld>
            <a:endParaRPr lang="en-US"/>
          </a:p>
        </p:txBody>
      </p:sp>
    </p:spTree>
    <p:extLst>
      <p:ext uri="{BB962C8B-B14F-4D97-AF65-F5344CB8AC3E}">
        <p14:creationId xmlns:p14="http://schemas.microsoft.com/office/powerpoint/2010/main" val="1978052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65E04-8FE6-31CA-A996-09F4890144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FF6990F-452C-EE78-B3D9-C49C004CFD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0D0A17-8B17-2C3E-040C-4CF9C3187D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BA8F124-AD0F-14D3-1529-5251C95EB1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5620D0-A454-411B-5596-DC649E1B26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BD5703-A090-DDB2-FD47-055980D8A575}"/>
              </a:ext>
            </a:extLst>
          </p:cNvPr>
          <p:cNvSpPr>
            <a:spLocks noGrp="1"/>
          </p:cNvSpPr>
          <p:nvPr>
            <p:ph type="dt" sz="half" idx="10"/>
          </p:nvPr>
        </p:nvSpPr>
        <p:spPr/>
        <p:txBody>
          <a:bodyPr/>
          <a:lstStyle/>
          <a:p>
            <a:fld id="{397742B7-90A2-4CED-85F0-85F1E541D4EA}" type="datetimeFigureOut">
              <a:rPr lang="en-US" smtClean="0"/>
              <a:t>11/30/2025</a:t>
            </a:fld>
            <a:endParaRPr lang="en-US"/>
          </a:p>
        </p:txBody>
      </p:sp>
      <p:sp>
        <p:nvSpPr>
          <p:cNvPr id="8" name="Footer Placeholder 7">
            <a:extLst>
              <a:ext uri="{FF2B5EF4-FFF2-40B4-BE49-F238E27FC236}">
                <a16:creationId xmlns:a16="http://schemas.microsoft.com/office/drawing/2014/main" id="{B1B8F940-2A1C-A74A-2987-DEDD885FCA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B8E34C8-9B32-00FC-A10B-1F086C68CD16}"/>
              </a:ext>
            </a:extLst>
          </p:cNvPr>
          <p:cNvSpPr>
            <a:spLocks noGrp="1"/>
          </p:cNvSpPr>
          <p:nvPr>
            <p:ph type="sldNum" sz="quarter" idx="12"/>
          </p:nvPr>
        </p:nvSpPr>
        <p:spPr/>
        <p:txBody>
          <a:bodyPr/>
          <a:lstStyle/>
          <a:p>
            <a:fld id="{582BC25E-8CC1-49A3-9CB4-E2273F8455FA}" type="slidenum">
              <a:rPr lang="en-US" smtClean="0"/>
              <a:t>‹#›</a:t>
            </a:fld>
            <a:endParaRPr lang="en-US"/>
          </a:p>
        </p:txBody>
      </p:sp>
    </p:spTree>
    <p:extLst>
      <p:ext uri="{BB962C8B-B14F-4D97-AF65-F5344CB8AC3E}">
        <p14:creationId xmlns:p14="http://schemas.microsoft.com/office/powerpoint/2010/main" val="2962750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A7DE7-DAB2-2706-49AE-C222094B6D5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169242-C6C3-2532-37AE-86B2EDF05EE2}"/>
              </a:ext>
            </a:extLst>
          </p:cNvPr>
          <p:cNvSpPr>
            <a:spLocks noGrp="1"/>
          </p:cNvSpPr>
          <p:nvPr>
            <p:ph type="dt" sz="half" idx="10"/>
          </p:nvPr>
        </p:nvSpPr>
        <p:spPr/>
        <p:txBody>
          <a:bodyPr/>
          <a:lstStyle/>
          <a:p>
            <a:fld id="{397742B7-90A2-4CED-85F0-85F1E541D4EA}" type="datetimeFigureOut">
              <a:rPr lang="en-US" smtClean="0"/>
              <a:t>11/30/2025</a:t>
            </a:fld>
            <a:endParaRPr lang="en-US"/>
          </a:p>
        </p:txBody>
      </p:sp>
      <p:sp>
        <p:nvSpPr>
          <p:cNvPr id="4" name="Footer Placeholder 3">
            <a:extLst>
              <a:ext uri="{FF2B5EF4-FFF2-40B4-BE49-F238E27FC236}">
                <a16:creationId xmlns:a16="http://schemas.microsoft.com/office/drawing/2014/main" id="{327DBAC5-13B1-1602-00C5-53F32A8560F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EF7E1B-CE51-C778-722B-CC41138D884B}"/>
              </a:ext>
            </a:extLst>
          </p:cNvPr>
          <p:cNvSpPr>
            <a:spLocks noGrp="1"/>
          </p:cNvSpPr>
          <p:nvPr>
            <p:ph type="sldNum" sz="quarter" idx="12"/>
          </p:nvPr>
        </p:nvSpPr>
        <p:spPr/>
        <p:txBody>
          <a:bodyPr/>
          <a:lstStyle/>
          <a:p>
            <a:fld id="{582BC25E-8CC1-49A3-9CB4-E2273F8455FA}" type="slidenum">
              <a:rPr lang="en-US" smtClean="0"/>
              <a:t>‹#›</a:t>
            </a:fld>
            <a:endParaRPr lang="en-US"/>
          </a:p>
        </p:txBody>
      </p:sp>
    </p:spTree>
    <p:extLst>
      <p:ext uri="{BB962C8B-B14F-4D97-AF65-F5344CB8AC3E}">
        <p14:creationId xmlns:p14="http://schemas.microsoft.com/office/powerpoint/2010/main" val="3000743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DCEE24-3565-6446-581A-D3868F6CE94C}"/>
              </a:ext>
            </a:extLst>
          </p:cNvPr>
          <p:cNvSpPr>
            <a:spLocks noGrp="1"/>
          </p:cNvSpPr>
          <p:nvPr>
            <p:ph type="dt" sz="half" idx="10"/>
          </p:nvPr>
        </p:nvSpPr>
        <p:spPr/>
        <p:txBody>
          <a:bodyPr/>
          <a:lstStyle/>
          <a:p>
            <a:fld id="{397742B7-90A2-4CED-85F0-85F1E541D4EA}" type="datetimeFigureOut">
              <a:rPr lang="en-US" smtClean="0"/>
              <a:t>11/30/2025</a:t>
            </a:fld>
            <a:endParaRPr lang="en-US"/>
          </a:p>
        </p:txBody>
      </p:sp>
      <p:sp>
        <p:nvSpPr>
          <p:cNvPr id="3" name="Footer Placeholder 2">
            <a:extLst>
              <a:ext uri="{FF2B5EF4-FFF2-40B4-BE49-F238E27FC236}">
                <a16:creationId xmlns:a16="http://schemas.microsoft.com/office/drawing/2014/main" id="{ECD2A7B4-70C1-ECF5-4F76-937AE7B3579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F27926-414D-073B-F632-93C8F510EFB5}"/>
              </a:ext>
            </a:extLst>
          </p:cNvPr>
          <p:cNvSpPr>
            <a:spLocks noGrp="1"/>
          </p:cNvSpPr>
          <p:nvPr>
            <p:ph type="sldNum" sz="quarter" idx="12"/>
          </p:nvPr>
        </p:nvSpPr>
        <p:spPr/>
        <p:txBody>
          <a:bodyPr/>
          <a:lstStyle/>
          <a:p>
            <a:fld id="{582BC25E-8CC1-49A3-9CB4-E2273F8455FA}" type="slidenum">
              <a:rPr lang="en-US" smtClean="0"/>
              <a:t>‹#›</a:t>
            </a:fld>
            <a:endParaRPr lang="en-US"/>
          </a:p>
        </p:txBody>
      </p:sp>
    </p:spTree>
    <p:extLst>
      <p:ext uri="{BB962C8B-B14F-4D97-AF65-F5344CB8AC3E}">
        <p14:creationId xmlns:p14="http://schemas.microsoft.com/office/powerpoint/2010/main" val="2313219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DF13E-014E-0FAF-24BD-4749318705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68D19A4-46BC-9A4B-A3FA-456A7168FA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3FCF95-9463-617B-F9CB-229E7A1EA9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1D4D2F-41B9-34B3-F776-66BB46965A8D}"/>
              </a:ext>
            </a:extLst>
          </p:cNvPr>
          <p:cNvSpPr>
            <a:spLocks noGrp="1"/>
          </p:cNvSpPr>
          <p:nvPr>
            <p:ph type="dt" sz="half" idx="10"/>
          </p:nvPr>
        </p:nvSpPr>
        <p:spPr/>
        <p:txBody>
          <a:bodyPr/>
          <a:lstStyle/>
          <a:p>
            <a:fld id="{397742B7-90A2-4CED-85F0-85F1E541D4EA}" type="datetimeFigureOut">
              <a:rPr lang="en-US" smtClean="0"/>
              <a:t>11/30/2025</a:t>
            </a:fld>
            <a:endParaRPr lang="en-US"/>
          </a:p>
        </p:txBody>
      </p:sp>
      <p:sp>
        <p:nvSpPr>
          <p:cNvPr id="6" name="Footer Placeholder 5">
            <a:extLst>
              <a:ext uri="{FF2B5EF4-FFF2-40B4-BE49-F238E27FC236}">
                <a16:creationId xmlns:a16="http://schemas.microsoft.com/office/drawing/2014/main" id="{E8D415F7-67A6-B33F-C32A-A354366E8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B60EA6-C6B5-EFA7-17FD-CDF38AC43D50}"/>
              </a:ext>
            </a:extLst>
          </p:cNvPr>
          <p:cNvSpPr>
            <a:spLocks noGrp="1"/>
          </p:cNvSpPr>
          <p:nvPr>
            <p:ph type="sldNum" sz="quarter" idx="12"/>
          </p:nvPr>
        </p:nvSpPr>
        <p:spPr/>
        <p:txBody>
          <a:bodyPr/>
          <a:lstStyle/>
          <a:p>
            <a:fld id="{582BC25E-8CC1-49A3-9CB4-E2273F8455FA}" type="slidenum">
              <a:rPr lang="en-US" smtClean="0"/>
              <a:t>‹#›</a:t>
            </a:fld>
            <a:endParaRPr lang="en-US"/>
          </a:p>
        </p:txBody>
      </p:sp>
    </p:spTree>
    <p:extLst>
      <p:ext uri="{BB962C8B-B14F-4D97-AF65-F5344CB8AC3E}">
        <p14:creationId xmlns:p14="http://schemas.microsoft.com/office/powerpoint/2010/main" val="3700643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578FD-1DF5-AEB0-07BB-00B8DED793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BE2A58-5EE5-9E17-BCCB-6341B1FFCA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D29CD80-0A3A-F9C5-639C-C225DAE060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A6E639-0F77-71EF-ADD7-B894FE3387A5}"/>
              </a:ext>
            </a:extLst>
          </p:cNvPr>
          <p:cNvSpPr>
            <a:spLocks noGrp="1"/>
          </p:cNvSpPr>
          <p:nvPr>
            <p:ph type="dt" sz="half" idx="10"/>
          </p:nvPr>
        </p:nvSpPr>
        <p:spPr/>
        <p:txBody>
          <a:bodyPr/>
          <a:lstStyle/>
          <a:p>
            <a:fld id="{397742B7-90A2-4CED-85F0-85F1E541D4EA}" type="datetimeFigureOut">
              <a:rPr lang="en-US" smtClean="0"/>
              <a:t>11/30/2025</a:t>
            </a:fld>
            <a:endParaRPr lang="en-US"/>
          </a:p>
        </p:txBody>
      </p:sp>
      <p:sp>
        <p:nvSpPr>
          <p:cNvPr id="6" name="Footer Placeholder 5">
            <a:extLst>
              <a:ext uri="{FF2B5EF4-FFF2-40B4-BE49-F238E27FC236}">
                <a16:creationId xmlns:a16="http://schemas.microsoft.com/office/drawing/2014/main" id="{3687F9EB-2ADC-8A4C-630C-DF0704D27B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3A5409-780B-6E3B-C946-2427193C1426}"/>
              </a:ext>
            </a:extLst>
          </p:cNvPr>
          <p:cNvSpPr>
            <a:spLocks noGrp="1"/>
          </p:cNvSpPr>
          <p:nvPr>
            <p:ph type="sldNum" sz="quarter" idx="12"/>
          </p:nvPr>
        </p:nvSpPr>
        <p:spPr/>
        <p:txBody>
          <a:bodyPr/>
          <a:lstStyle/>
          <a:p>
            <a:fld id="{582BC25E-8CC1-49A3-9CB4-E2273F8455FA}" type="slidenum">
              <a:rPr lang="en-US" smtClean="0"/>
              <a:t>‹#›</a:t>
            </a:fld>
            <a:endParaRPr lang="en-US"/>
          </a:p>
        </p:txBody>
      </p:sp>
    </p:spTree>
    <p:extLst>
      <p:ext uri="{BB962C8B-B14F-4D97-AF65-F5344CB8AC3E}">
        <p14:creationId xmlns:p14="http://schemas.microsoft.com/office/powerpoint/2010/main" val="3430813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8EE8F-DF18-2D20-7282-BB52EEDBE9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5BD988-FE58-EC0B-25C3-8D84DF20D8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9BCABE-5460-2AA1-8DA2-E83DBD85DDCD}"/>
              </a:ext>
            </a:extLst>
          </p:cNvPr>
          <p:cNvSpPr>
            <a:spLocks noGrp="1"/>
          </p:cNvSpPr>
          <p:nvPr>
            <p:ph type="dt" sz="half" idx="10"/>
          </p:nvPr>
        </p:nvSpPr>
        <p:spPr/>
        <p:txBody>
          <a:bodyPr/>
          <a:lstStyle/>
          <a:p>
            <a:fld id="{397742B7-90A2-4CED-85F0-85F1E541D4EA}" type="datetimeFigureOut">
              <a:rPr lang="en-US" smtClean="0"/>
              <a:t>11/30/2025</a:t>
            </a:fld>
            <a:endParaRPr lang="en-US"/>
          </a:p>
        </p:txBody>
      </p:sp>
      <p:sp>
        <p:nvSpPr>
          <p:cNvPr id="5" name="Footer Placeholder 4">
            <a:extLst>
              <a:ext uri="{FF2B5EF4-FFF2-40B4-BE49-F238E27FC236}">
                <a16:creationId xmlns:a16="http://schemas.microsoft.com/office/drawing/2014/main" id="{D1026FFE-E9D9-9A13-C403-21B04B5608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951233-C366-700E-582E-98FEBBB593E8}"/>
              </a:ext>
            </a:extLst>
          </p:cNvPr>
          <p:cNvSpPr>
            <a:spLocks noGrp="1"/>
          </p:cNvSpPr>
          <p:nvPr>
            <p:ph type="sldNum" sz="quarter" idx="12"/>
          </p:nvPr>
        </p:nvSpPr>
        <p:spPr/>
        <p:txBody>
          <a:bodyPr/>
          <a:lstStyle/>
          <a:p>
            <a:fld id="{582BC25E-8CC1-49A3-9CB4-E2273F8455FA}" type="slidenum">
              <a:rPr lang="en-US" smtClean="0"/>
              <a:t>‹#›</a:t>
            </a:fld>
            <a:endParaRPr lang="en-US"/>
          </a:p>
        </p:txBody>
      </p:sp>
    </p:spTree>
    <p:extLst>
      <p:ext uri="{BB962C8B-B14F-4D97-AF65-F5344CB8AC3E}">
        <p14:creationId xmlns:p14="http://schemas.microsoft.com/office/powerpoint/2010/main" val="4200546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229A65-BC44-50B6-ED8C-60FA84556BA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D9311D1-9797-AC1D-CBB3-342F24463C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11E847-7597-2C33-A390-C00E47494137}"/>
              </a:ext>
            </a:extLst>
          </p:cNvPr>
          <p:cNvSpPr>
            <a:spLocks noGrp="1"/>
          </p:cNvSpPr>
          <p:nvPr>
            <p:ph type="dt" sz="half" idx="10"/>
          </p:nvPr>
        </p:nvSpPr>
        <p:spPr/>
        <p:txBody>
          <a:bodyPr/>
          <a:lstStyle/>
          <a:p>
            <a:fld id="{397742B7-90A2-4CED-85F0-85F1E541D4EA}" type="datetimeFigureOut">
              <a:rPr lang="en-US" smtClean="0"/>
              <a:t>11/30/2025</a:t>
            </a:fld>
            <a:endParaRPr lang="en-US"/>
          </a:p>
        </p:txBody>
      </p:sp>
      <p:sp>
        <p:nvSpPr>
          <p:cNvPr id="5" name="Footer Placeholder 4">
            <a:extLst>
              <a:ext uri="{FF2B5EF4-FFF2-40B4-BE49-F238E27FC236}">
                <a16:creationId xmlns:a16="http://schemas.microsoft.com/office/drawing/2014/main" id="{678696DD-74BC-1A87-805F-5BABE5742D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86A735-E070-47FE-5C74-0A103A787ECB}"/>
              </a:ext>
            </a:extLst>
          </p:cNvPr>
          <p:cNvSpPr>
            <a:spLocks noGrp="1"/>
          </p:cNvSpPr>
          <p:nvPr>
            <p:ph type="sldNum" sz="quarter" idx="12"/>
          </p:nvPr>
        </p:nvSpPr>
        <p:spPr/>
        <p:txBody>
          <a:bodyPr/>
          <a:lstStyle/>
          <a:p>
            <a:fld id="{582BC25E-8CC1-49A3-9CB4-E2273F8455FA}" type="slidenum">
              <a:rPr lang="en-US" smtClean="0"/>
              <a:t>‹#›</a:t>
            </a:fld>
            <a:endParaRPr lang="en-US"/>
          </a:p>
        </p:txBody>
      </p:sp>
    </p:spTree>
    <p:extLst>
      <p:ext uri="{BB962C8B-B14F-4D97-AF65-F5344CB8AC3E}">
        <p14:creationId xmlns:p14="http://schemas.microsoft.com/office/powerpoint/2010/main" val="24710166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cstate="screen">
            <a:alphaModFix amt="25000"/>
            <a:extLst>
              <a:ext uri="{28A0092B-C50C-407E-A947-70E740481C1C}">
                <a14:useLocalDpi xmlns:a14="http://schemas.microsoft.com/office/drawing/2010/main"/>
              </a:ext>
            </a:extLst>
          </a:blip>
          <a:stretch>
            <a:fillRect/>
          </a:stretch>
        </p:blipFill>
        <p:spPr>
          <a:xfrm>
            <a:off x="1835085" y="170978"/>
            <a:ext cx="10356915" cy="5825765"/>
          </a:xfrm>
          <a:prstGeom prst="rect">
            <a:avLst/>
          </a:prstGeom>
        </p:spPr>
      </p:pic>
      <p:sp>
        <p:nvSpPr>
          <p:cNvPr id="4" name="Date Placeholder 3"/>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11/30/2025</a:t>
            </a:fld>
            <a:endParaRPr lang="en-US"/>
          </a:p>
        </p:txBody>
      </p:sp>
      <p:sp>
        <p:nvSpPr>
          <p:cNvPr id="21" name="Rectangle 20">
            <a:extLst>
              <a:ext uri="{FF2B5EF4-FFF2-40B4-BE49-F238E27FC236}">
                <a16:creationId xmlns:a16="http://schemas.microsoft.com/office/drawing/2014/main" id="{2DF55106-BA85-A046-A450-43480962F8F7}"/>
              </a:ext>
            </a:extLst>
          </p:cNvPr>
          <p:cNvSpPr/>
          <p:nvPr userDrawn="1"/>
        </p:nvSpPr>
        <p:spPr>
          <a:xfrm>
            <a:off x="-34047" y="0"/>
            <a:ext cx="12260094" cy="6265544"/>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cxnSp>
        <p:nvCxnSpPr>
          <p:cNvPr id="14" name="Straight Connector 13"/>
          <p:cNvCxnSpPr/>
          <p:nvPr userDrawn="1"/>
        </p:nvCxnSpPr>
        <p:spPr>
          <a:xfrm>
            <a:off x="520878" y="3287006"/>
            <a:ext cx="911199" cy="0"/>
          </a:xfrm>
          <a:prstGeom prst="line">
            <a:avLst/>
          </a:prstGeom>
          <a:ln w="28575">
            <a:solidFill>
              <a:srgbClr val="D2492A"/>
            </a:solidFill>
          </a:ln>
          <a:effectLst/>
        </p:spPr>
        <p:style>
          <a:lnRef idx="2">
            <a:schemeClr val="accent1"/>
          </a:lnRef>
          <a:fillRef idx="0">
            <a:schemeClr val="accent1"/>
          </a:fillRef>
          <a:effectRef idx="1">
            <a:schemeClr val="accent1"/>
          </a:effectRef>
          <a:fontRef idx="minor">
            <a:schemeClr val="tx1"/>
          </a:fontRef>
        </p:style>
      </p:cxnSp>
      <p:pic>
        <p:nvPicPr>
          <p:cNvPr id="22" name="Picture 21">
            <a:extLst>
              <a:ext uri="{FF2B5EF4-FFF2-40B4-BE49-F238E27FC236}">
                <a16:creationId xmlns:a16="http://schemas.microsoft.com/office/drawing/2014/main" id="{08E7ABF0-DEE6-F34C-98A7-7FC5808DF58A}"/>
              </a:ext>
            </a:extLst>
          </p:cNvPr>
          <p:cNvPicPr/>
          <p:nvPr userDrawn="1"/>
        </p:nvPicPr>
        <p:blipFill>
          <a:blip r:embed="rId3"/>
          <a:stretch>
            <a:fillRect/>
          </a:stretch>
        </p:blipFill>
        <p:spPr bwMode="auto">
          <a:xfrm>
            <a:off x="381000" y="6373243"/>
            <a:ext cx="3200400" cy="364310"/>
          </a:xfrm>
          <a:prstGeom prst="rect">
            <a:avLst/>
          </a:prstGeom>
          <a:noFill/>
          <a:ln>
            <a:noFill/>
          </a:ln>
          <a:extLst>
            <a:ext uri="{53640926-AAD7-44D8-BBD7-CCE9431645EC}">
              <a14:shadowObscured xmlns:a14="http://schemas.microsoft.com/office/drawing/2010/main"/>
            </a:ext>
          </a:extLst>
        </p:spPr>
      </p:pic>
      <p:sp>
        <p:nvSpPr>
          <p:cNvPr id="23" name="TextBox 22">
            <a:extLst>
              <a:ext uri="{FF2B5EF4-FFF2-40B4-BE49-F238E27FC236}">
                <a16:creationId xmlns:a16="http://schemas.microsoft.com/office/drawing/2014/main" id="{78B3FD82-CB41-C84B-B706-06F09C4B7CF1}"/>
              </a:ext>
            </a:extLst>
          </p:cNvPr>
          <p:cNvSpPr txBox="1"/>
          <p:nvPr userDrawn="1"/>
        </p:nvSpPr>
        <p:spPr>
          <a:xfrm>
            <a:off x="7478040" y="6407925"/>
            <a:ext cx="4489537" cy="369332"/>
          </a:xfrm>
          <a:prstGeom prst="rect">
            <a:avLst/>
          </a:prstGeom>
          <a:noFill/>
        </p:spPr>
        <p:txBody>
          <a:bodyPr wrap="square" rtlCol="0">
            <a:spAutoFit/>
          </a:bodyPr>
          <a:lstStyle/>
          <a:p>
            <a:pPr algn="r"/>
            <a:r>
              <a:rPr lang="en-US" sz="1800" b="1" i="0" dirty="0">
                <a:solidFill>
                  <a:srgbClr val="21314D"/>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sp>
        <p:nvSpPr>
          <p:cNvPr id="13" name="Subtitle 2"/>
          <p:cNvSpPr>
            <a:spLocks noGrp="1"/>
          </p:cNvSpPr>
          <p:nvPr>
            <p:ph type="subTitle" idx="1"/>
          </p:nvPr>
        </p:nvSpPr>
        <p:spPr>
          <a:xfrm>
            <a:off x="395371" y="3737295"/>
            <a:ext cx="9144000" cy="1655762"/>
          </a:xfrm>
        </p:spPr>
        <p:txBody>
          <a:bodyPr/>
          <a:lstStyle>
            <a:lvl1pPr marL="0" indent="0">
              <a:buNone/>
              <a:defRPr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pPr algn="l"/>
            <a:r>
              <a:rPr lang="en-US" dirty="0">
                <a:solidFill>
                  <a:schemeClr val="bg1"/>
                </a:solidFill>
              </a:rPr>
              <a:t>Subhead, name or date goes here</a:t>
            </a:r>
          </a:p>
        </p:txBody>
      </p:sp>
      <p:pic>
        <p:nvPicPr>
          <p:cNvPr id="24" name="Picture 23">
            <a:extLst>
              <a:ext uri="{FF2B5EF4-FFF2-40B4-BE49-F238E27FC236}">
                <a16:creationId xmlns:a16="http://schemas.microsoft.com/office/drawing/2014/main" id="{F3429AB2-51CA-D34A-933D-348196C30A2C}"/>
              </a:ext>
            </a:extLst>
          </p:cNvPr>
          <p:cNvPicPr>
            <a:picLocks noChangeAspect="1"/>
          </p:cNvPicPr>
          <p:nvPr userDrawn="1"/>
        </p:nvPicPr>
        <p:blipFill>
          <a:blip r:embed="rId2" cstate="screen">
            <a:alphaModFix amt="25000"/>
            <a:extLst>
              <a:ext uri="{28A0092B-C50C-407E-A947-70E740481C1C}">
                <a14:useLocalDpi xmlns:a14="http://schemas.microsoft.com/office/drawing/2010/main"/>
              </a:ext>
            </a:extLst>
          </a:blip>
          <a:stretch>
            <a:fillRect/>
          </a:stretch>
        </p:blipFill>
        <p:spPr>
          <a:xfrm>
            <a:off x="1835085" y="170976"/>
            <a:ext cx="10356915" cy="5825765"/>
          </a:xfrm>
          <a:prstGeom prst="rect">
            <a:avLst/>
          </a:prstGeom>
        </p:spPr>
      </p:pic>
      <p:sp>
        <p:nvSpPr>
          <p:cNvPr id="12" name="Title 1"/>
          <p:cNvSpPr>
            <a:spLocks noGrp="1"/>
          </p:cNvSpPr>
          <p:nvPr>
            <p:ph type="ctrTitle"/>
          </p:nvPr>
        </p:nvSpPr>
        <p:spPr>
          <a:xfrm>
            <a:off x="395371" y="2243579"/>
            <a:ext cx="10803672" cy="719056"/>
          </a:xfrm>
        </p:spPr>
        <p:txBody>
          <a:bodyPr>
            <a:normAutofit/>
          </a:bodyPr>
          <a:lstStyle>
            <a:lvl1pPr>
              <a:defRPr b="1"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pPr algn="l"/>
            <a:r>
              <a:rPr lang="en-US" sz="5400" dirty="0">
                <a:solidFill>
                  <a:schemeClr val="bg1"/>
                </a:solidFill>
              </a:rPr>
              <a:t>Presentation Title Goes Here</a:t>
            </a:r>
          </a:p>
        </p:txBody>
      </p:sp>
    </p:spTree>
    <p:extLst>
      <p:ext uri="{BB962C8B-B14F-4D97-AF65-F5344CB8AC3E}">
        <p14:creationId xmlns:p14="http://schemas.microsoft.com/office/powerpoint/2010/main" val="12643528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Rectangle 9"/>
          <p:cNvSpPr/>
          <p:nvPr userDrawn="1"/>
        </p:nvSpPr>
        <p:spPr>
          <a:xfrm>
            <a:off x="-9728" y="-9729"/>
            <a:ext cx="12201728" cy="626554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hasCustomPrompt="1"/>
          </p:nvPr>
        </p:nvSpPr>
        <p:spPr>
          <a:xfrm>
            <a:off x="831851" y="1709740"/>
            <a:ext cx="10515600" cy="2852737"/>
          </a:xfrm>
        </p:spPr>
        <p:txBody>
          <a:bodyPr anchor="b">
            <a:normAutofit/>
          </a:bodyPr>
          <a:lstStyle>
            <a:lvl1pPr>
              <a:defRPr sz="4400" b="1"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n-US" dirty="0"/>
              <a:t>Section header goes here</a:t>
            </a:r>
          </a:p>
        </p:txBody>
      </p:sp>
      <p:sp>
        <p:nvSpPr>
          <p:cNvPr id="3" name="Text Placeholder 2"/>
          <p:cNvSpPr>
            <a:spLocks noGrp="1"/>
          </p:cNvSpPr>
          <p:nvPr>
            <p:ph type="body" idx="1" hasCustomPrompt="1"/>
          </p:nvPr>
        </p:nvSpPr>
        <p:spPr>
          <a:xfrm>
            <a:off x="831851" y="4589465"/>
            <a:ext cx="10515600" cy="1500187"/>
          </a:xfrm>
        </p:spPr>
        <p:txBody>
          <a:bodyPr/>
          <a:lstStyle>
            <a:lvl1pPr marL="0" indent="0">
              <a:buNone/>
              <a:defRPr sz="2400" b="0" i="0">
                <a:solidFill>
                  <a:srgbClr val="92A2BD"/>
                </a:solidFill>
                <a:latin typeface="Arial" panose="020B0604020202020204" pitchFamily="34" charset="0"/>
                <a:ea typeface="Arial" panose="020B0604020202020204" pitchFamily="34" charset="0"/>
                <a:cs typeface="Arial" panose="020B0604020202020204" pitchFamily="34"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Section subhead goes here</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11/30/2025</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pic>
        <p:nvPicPr>
          <p:cNvPr id="12" name="Picture 11">
            <a:extLst>
              <a:ext uri="{FF2B5EF4-FFF2-40B4-BE49-F238E27FC236}">
                <a16:creationId xmlns:a16="http://schemas.microsoft.com/office/drawing/2014/main" id="{4C2BC71D-0003-024E-9F29-71C949747F4A}"/>
              </a:ext>
            </a:extLst>
          </p:cNvPr>
          <p:cNvPicPr/>
          <p:nvPr userDrawn="1"/>
        </p:nvPicPr>
        <p:blipFill>
          <a:blip r:embed="rId2"/>
          <a:stretch>
            <a:fillRect/>
          </a:stretch>
        </p:blipFill>
        <p:spPr bwMode="auto">
          <a:xfrm>
            <a:off x="381000" y="6373243"/>
            <a:ext cx="3200400" cy="364310"/>
          </a:xfrm>
          <a:prstGeom prst="rect">
            <a:avLst/>
          </a:prstGeom>
          <a:noFill/>
          <a:ln>
            <a:noFill/>
          </a:ln>
          <a:extLst>
            <a:ext uri="{53640926-AAD7-44D8-BBD7-CCE9431645EC}">
              <a14:shadowObscured xmlns:a14="http://schemas.microsoft.com/office/drawing/2010/main"/>
            </a:ext>
          </a:extLst>
        </p:spPr>
      </p:pic>
      <p:sp>
        <p:nvSpPr>
          <p:cNvPr id="13" name="TextBox 12">
            <a:extLst>
              <a:ext uri="{FF2B5EF4-FFF2-40B4-BE49-F238E27FC236}">
                <a16:creationId xmlns:a16="http://schemas.microsoft.com/office/drawing/2014/main" id="{25715021-AF61-AF4F-9B48-1343FD8CB059}"/>
              </a:ext>
            </a:extLst>
          </p:cNvPr>
          <p:cNvSpPr txBox="1"/>
          <p:nvPr userDrawn="1"/>
        </p:nvSpPr>
        <p:spPr>
          <a:xfrm>
            <a:off x="7478040" y="6407925"/>
            <a:ext cx="4489537" cy="369332"/>
          </a:xfrm>
          <a:prstGeom prst="rect">
            <a:avLst/>
          </a:prstGeom>
          <a:noFill/>
        </p:spPr>
        <p:txBody>
          <a:bodyPr wrap="square" rtlCol="0">
            <a:spAutoFit/>
          </a:bodyPr>
          <a:lstStyle/>
          <a:p>
            <a:pPr algn="r"/>
            <a:r>
              <a:rPr lang="en-US" sz="1800" b="1" i="0" dirty="0">
                <a:solidFill>
                  <a:srgbClr val="21314D"/>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spTree>
    <p:extLst>
      <p:ext uri="{BB962C8B-B14F-4D97-AF65-F5344CB8AC3E}">
        <p14:creationId xmlns:p14="http://schemas.microsoft.com/office/powerpoint/2010/main" val="6984799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1314D"/>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994452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1314D"/>
                </a:solidFill>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11/30/2025</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8" name="Rectangle 7"/>
          <p:cNvSpPr/>
          <p:nvPr userDrawn="1"/>
        </p:nvSpPr>
        <p:spPr>
          <a:xfrm>
            <a:off x="-9728" y="6265545"/>
            <a:ext cx="12201728" cy="59245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3" name="TextBox 12">
            <a:extLst>
              <a:ext uri="{FF2B5EF4-FFF2-40B4-BE49-F238E27FC236}">
                <a16:creationId xmlns:a16="http://schemas.microsoft.com/office/drawing/2014/main" id="{3E729617-3EE6-934F-B272-92B6163ABCA3}"/>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pic>
        <p:nvPicPr>
          <p:cNvPr id="14" name="Picture 13">
            <a:extLst>
              <a:ext uri="{FF2B5EF4-FFF2-40B4-BE49-F238E27FC236}">
                <a16:creationId xmlns:a16="http://schemas.microsoft.com/office/drawing/2014/main" id="{AA977242-14B3-B24E-8B0C-44E4362EFCBD}"/>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478522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lvl1pPr>
              <a:defRPr>
                <a:solidFill>
                  <a:srgbClr val="21314D"/>
                </a:solidFill>
              </a:defRPr>
            </a:lvl1pPr>
          </a:lstStyle>
          <a:p>
            <a:r>
              <a:rPr lang="en-US" dirty="0"/>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11/30/2025</a:t>
            </a:fld>
            <a:endParaRPr lang="en-US"/>
          </a:p>
        </p:txBody>
      </p:sp>
      <p:sp>
        <p:nvSpPr>
          <p:cNvPr id="8" name="Footer Placeholder 7"/>
          <p:cNvSpPr>
            <a:spLocks noGrp="1"/>
          </p:cNvSpPr>
          <p:nvPr>
            <p:ph type="ftr" sz="quarter" idx="11"/>
          </p:nvPr>
        </p:nvSpPr>
        <p:spPr>
          <a:xfrm>
            <a:off x="4038600" y="6356352"/>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10" name="Rectangle 9"/>
          <p:cNvSpPr/>
          <p:nvPr userDrawn="1"/>
        </p:nvSpPr>
        <p:spPr>
          <a:xfrm>
            <a:off x="-9728" y="6265545"/>
            <a:ext cx="12201728" cy="59245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5" name="TextBox 14">
            <a:extLst>
              <a:ext uri="{FF2B5EF4-FFF2-40B4-BE49-F238E27FC236}">
                <a16:creationId xmlns:a16="http://schemas.microsoft.com/office/drawing/2014/main" id="{07053E08-80AB-B043-979E-87B7A1E7EB21}"/>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pic>
        <p:nvPicPr>
          <p:cNvPr id="16" name="Picture 15">
            <a:extLst>
              <a:ext uri="{FF2B5EF4-FFF2-40B4-BE49-F238E27FC236}">
                <a16:creationId xmlns:a16="http://schemas.microsoft.com/office/drawing/2014/main" id="{32B57081-B141-9B4E-9482-F401745054EE}"/>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200587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1314D"/>
                </a:solidFill>
              </a:defRPr>
            </a:lvl1pPr>
          </a:lstStyle>
          <a:p>
            <a:r>
              <a:rPr lang="en-US" dirty="0"/>
              <a:t>Click to edit Master title style</a:t>
            </a:r>
          </a:p>
        </p:txBody>
      </p:sp>
      <p:sp>
        <p:nvSpPr>
          <p:cNvPr id="3" name="Date Placeholder 2"/>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11/30/2025</a:t>
            </a:fld>
            <a:endParaRPr lang="en-US"/>
          </a:p>
        </p:txBody>
      </p:sp>
      <p:sp>
        <p:nvSpPr>
          <p:cNvPr id="4" name="Footer Placeholder 3"/>
          <p:cNvSpPr>
            <a:spLocks noGrp="1"/>
          </p:cNvSpPr>
          <p:nvPr>
            <p:ph type="ftr" sz="quarter" idx="11"/>
          </p:nvPr>
        </p:nvSpPr>
        <p:spPr>
          <a:xfrm>
            <a:off x="4038600" y="6356352"/>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6" name="Rectangle 5"/>
          <p:cNvSpPr/>
          <p:nvPr userDrawn="1"/>
        </p:nvSpPr>
        <p:spPr>
          <a:xfrm>
            <a:off x="-9728" y="6265545"/>
            <a:ext cx="12201728" cy="59245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1" name="TextBox 10">
            <a:extLst>
              <a:ext uri="{FF2B5EF4-FFF2-40B4-BE49-F238E27FC236}">
                <a16:creationId xmlns:a16="http://schemas.microsoft.com/office/drawing/2014/main" id="{6BA0EA07-1225-FE4C-917E-74A024F5E428}"/>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pic>
        <p:nvPicPr>
          <p:cNvPr id="12" name="Picture 11">
            <a:extLst>
              <a:ext uri="{FF2B5EF4-FFF2-40B4-BE49-F238E27FC236}">
                <a16:creationId xmlns:a16="http://schemas.microsoft.com/office/drawing/2014/main" id="{43F1F743-16CE-3043-9E24-77715B0645DA}"/>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4559360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11/30/2025</a:t>
            </a:fld>
            <a:endParaRPr lang="en-US"/>
          </a:p>
        </p:txBody>
      </p:sp>
      <p:sp>
        <p:nvSpPr>
          <p:cNvPr id="3" name="Footer Placeholder 2"/>
          <p:cNvSpPr>
            <a:spLocks noGrp="1"/>
          </p:cNvSpPr>
          <p:nvPr>
            <p:ph type="ftr" sz="quarter" idx="11"/>
          </p:nvPr>
        </p:nvSpPr>
        <p:spPr>
          <a:xfrm>
            <a:off x="4038600" y="6356352"/>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9" name="Title 2"/>
          <p:cNvSpPr txBox="1">
            <a:spLocks/>
          </p:cNvSpPr>
          <p:nvPr userDrawn="1"/>
        </p:nvSpPr>
        <p:spPr>
          <a:xfrm>
            <a:off x="838202" y="5746528"/>
            <a:ext cx="13016751" cy="7793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0" i="0" kern="1200">
                <a:solidFill>
                  <a:srgbClr val="21314D"/>
                </a:solidFill>
                <a:latin typeface="Gotham Medium" charset="0"/>
                <a:ea typeface="Gotham Medium" charset="0"/>
                <a:cs typeface="Gotham Medium" charset="0"/>
              </a:defRPr>
            </a:lvl1pPr>
          </a:lstStyle>
          <a:p>
            <a:r>
              <a:rPr lang="en-US" sz="4400" b="1" i="0" dirty="0">
                <a:latin typeface="Arial" panose="020B0604020202020204" pitchFamily="34" charset="0"/>
                <a:cs typeface="Arial" panose="020B0604020202020204" pitchFamily="34" charset="0"/>
              </a:rPr>
              <a:t>Headline Copy Goes Here</a:t>
            </a:r>
          </a:p>
        </p:txBody>
      </p:sp>
      <p:sp>
        <p:nvSpPr>
          <p:cNvPr id="10" name="Picture Placeholder 2"/>
          <p:cNvSpPr>
            <a:spLocks noGrp="1"/>
          </p:cNvSpPr>
          <p:nvPr>
            <p:ph type="pic" idx="1"/>
          </p:nvPr>
        </p:nvSpPr>
        <p:spPr>
          <a:xfrm>
            <a:off x="0" y="1"/>
            <a:ext cx="12192000" cy="557703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Tree>
    <p:extLst>
      <p:ext uri="{BB962C8B-B14F-4D97-AF65-F5344CB8AC3E}">
        <p14:creationId xmlns:p14="http://schemas.microsoft.com/office/powerpoint/2010/main" val="26803885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ctangle 2"/>
          <p:cNvSpPr/>
          <p:nvPr userDrawn="1"/>
        </p:nvSpPr>
        <p:spPr>
          <a:xfrm>
            <a:off x="-10048" y="-10048"/>
            <a:ext cx="12202048" cy="6868048"/>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4" name="Picture 3"/>
          <p:cNvPicPr>
            <a:picLocks noChangeAspect="1"/>
          </p:cNvPicPr>
          <p:nvPr userDrawn="1"/>
        </p:nvPicPr>
        <p:blipFill>
          <a:blip r:embed="rId2" cstate="screen">
            <a:alphaModFix amt="25000"/>
            <a:extLst>
              <a:ext uri="{28A0092B-C50C-407E-A947-70E740481C1C}">
                <a14:useLocalDpi xmlns:a14="http://schemas.microsoft.com/office/drawing/2010/main"/>
              </a:ext>
            </a:extLst>
          </a:blip>
          <a:stretch>
            <a:fillRect/>
          </a:stretch>
        </p:blipFill>
        <p:spPr>
          <a:xfrm>
            <a:off x="1835085" y="552941"/>
            <a:ext cx="10356915" cy="5825765"/>
          </a:xfrm>
          <a:prstGeom prst="rect">
            <a:avLst/>
          </a:prstGeom>
        </p:spPr>
      </p:pic>
      <p:sp>
        <p:nvSpPr>
          <p:cNvPr id="5" name="Subtitle 2"/>
          <p:cNvSpPr>
            <a:spLocks noGrp="1"/>
          </p:cNvSpPr>
          <p:nvPr>
            <p:ph type="subTitle" idx="1" hasCustomPrompt="1"/>
          </p:nvPr>
        </p:nvSpPr>
        <p:spPr>
          <a:xfrm>
            <a:off x="2046399" y="2531096"/>
            <a:ext cx="9144000" cy="1655762"/>
          </a:xfrm>
        </p:spPr>
        <p:txBody>
          <a:bodyPr>
            <a:normAutofit/>
          </a:bodyPr>
          <a:lstStyle>
            <a:lvl1pPr marL="0" indent="0">
              <a:buNone/>
              <a:defRPr sz="4000" b="1"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pPr algn="l"/>
            <a:r>
              <a:rPr lang="en-US" dirty="0">
                <a:solidFill>
                  <a:schemeClr val="bg1"/>
                </a:solidFill>
              </a:rPr>
              <a:t>“Quote goes here.”</a:t>
            </a:r>
          </a:p>
        </p:txBody>
      </p:sp>
    </p:spTree>
    <p:extLst>
      <p:ext uri="{BB962C8B-B14F-4D97-AF65-F5344CB8AC3E}">
        <p14:creationId xmlns:p14="http://schemas.microsoft.com/office/powerpoint/2010/main" val="3375727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Title 1"/>
          <p:cNvSpPr>
            <a:spLocks noGrp="1"/>
          </p:cNvSpPr>
          <p:nvPr>
            <p:ph type="title"/>
          </p:nvPr>
        </p:nvSpPr>
        <p:spPr>
          <a:xfrm>
            <a:off x="7060252" y="982464"/>
            <a:ext cx="4862405" cy="1794085"/>
          </a:xfrm>
        </p:spPr>
        <p:txBody>
          <a:bodyPr/>
          <a:lstStyle/>
          <a:p>
            <a:r>
              <a:rPr lang="en-US" dirty="0"/>
              <a:t>Headline Copy Goes Here</a:t>
            </a:r>
          </a:p>
        </p:txBody>
      </p:sp>
      <p:sp>
        <p:nvSpPr>
          <p:cNvPr id="4" name="Content Placeholder 2"/>
          <p:cNvSpPr>
            <a:spLocks noGrp="1"/>
          </p:cNvSpPr>
          <p:nvPr>
            <p:ph idx="1"/>
          </p:nvPr>
        </p:nvSpPr>
        <p:spPr>
          <a:xfrm>
            <a:off x="7060253" y="3052261"/>
            <a:ext cx="4862404" cy="1975926"/>
          </a:xfrm>
        </p:spPr>
        <p:txBody>
          <a:bodyPr/>
          <a:lstStyle/>
          <a:p>
            <a:r>
              <a:rPr lang="en-US" dirty="0"/>
              <a:t>Click to add text</a:t>
            </a:r>
          </a:p>
          <a:p>
            <a:r>
              <a:rPr lang="en-US" dirty="0"/>
              <a:t>Click to add text</a:t>
            </a:r>
          </a:p>
        </p:txBody>
      </p:sp>
      <p:sp>
        <p:nvSpPr>
          <p:cNvPr id="6" name="Picture Placeholder 2"/>
          <p:cNvSpPr>
            <a:spLocks noGrp="1"/>
          </p:cNvSpPr>
          <p:nvPr>
            <p:ph type="pic" idx="10"/>
          </p:nvPr>
        </p:nvSpPr>
        <p:spPr>
          <a:xfrm>
            <a:off x="0" y="3"/>
            <a:ext cx="6890995" cy="6857999"/>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8" name="TextBox 7"/>
          <p:cNvSpPr txBox="1"/>
          <p:nvPr userDrawn="1"/>
        </p:nvSpPr>
        <p:spPr>
          <a:xfrm>
            <a:off x="7478040" y="6407925"/>
            <a:ext cx="4489537" cy="369332"/>
          </a:xfrm>
          <a:prstGeom prst="rect">
            <a:avLst/>
          </a:prstGeom>
          <a:noFill/>
        </p:spPr>
        <p:txBody>
          <a:bodyPr wrap="square" rtlCol="0">
            <a:spAutoFit/>
          </a:bodyPr>
          <a:lstStyle/>
          <a:p>
            <a:pPr algn="r"/>
            <a:r>
              <a:rPr lang="en-US" sz="1800" b="1" i="0" dirty="0">
                <a:solidFill>
                  <a:srgbClr val="21314D"/>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spTree>
    <p:extLst>
      <p:ext uri="{BB962C8B-B14F-4D97-AF65-F5344CB8AC3E}">
        <p14:creationId xmlns:p14="http://schemas.microsoft.com/office/powerpoint/2010/main" val="38043488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solidFill>
                  <a:srgbClr val="21314D"/>
                </a:solidFill>
              </a:defRPr>
            </a:lvl1pPr>
          </a:lstStyle>
          <a:p>
            <a:r>
              <a:rPr lang="en-US" dirty="0"/>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11/30/2025</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9" name="Rectangle 8"/>
          <p:cNvSpPr/>
          <p:nvPr userDrawn="1"/>
        </p:nvSpPr>
        <p:spPr>
          <a:xfrm>
            <a:off x="-9728" y="6265545"/>
            <a:ext cx="12201728" cy="592455"/>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1" name="TextBox 10">
            <a:extLst>
              <a:ext uri="{FF2B5EF4-FFF2-40B4-BE49-F238E27FC236}">
                <a16:creationId xmlns:a16="http://schemas.microsoft.com/office/drawing/2014/main" id="{8D816478-27A8-5948-917C-6E6357F4BB0B}"/>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pic>
        <p:nvPicPr>
          <p:cNvPr id="14" name="Picture 13">
            <a:extLst>
              <a:ext uri="{FF2B5EF4-FFF2-40B4-BE49-F238E27FC236}">
                <a16:creationId xmlns:a16="http://schemas.microsoft.com/office/drawing/2014/main" id="{E530F95D-C0F7-B448-B59E-D27295E0C7A5}"/>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427182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userDrawn="1"/>
        </p:nvSpPr>
        <p:spPr>
          <a:xfrm>
            <a:off x="-10048" y="-10049"/>
            <a:ext cx="5183189" cy="6943412"/>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hasCustomPrompt="1"/>
          </p:nvPr>
        </p:nvSpPr>
        <p:spPr>
          <a:xfrm>
            <a:off x="450058" y="472281"/>
            <a:ext cx="3932237" cy="1600200"/>
          </a:xfrm>
        </p:spPr>
        <p:txBody>
          <a:bodyPr anchor="b">
            <a:normAutofit/>
          </a:bodyPr>
          <a:lstStyle>
            <a:lvl1pPr>
              <a:defRPr sz="4400">
                <a:solidFill>
                  <a:schemeClr val="bg1"/>
                </a:solidFill>
              </a:defRPr>
            </a:lvl1pPr>
          </a:lstStyle>
          <a:p>
            <a:r>
              <a:rPr lang="en-US" dirty="0"/>
              <a:t>Copy goes here</a:t>
            </a:r>
          </a:p>
        </p:txBody>
      </p:sp>
      <p:sp>
        <p:nvSpPr>
          <p:cNvPr id="3" name="Picture Placeholder 2"/>
          <p:cNvSpPr>
            <a:spLocks noGrp="1"/>
          </p:cNvSpPr>
          <p:nvPr>
            <p:ph type="pic" idx="1"/>
          </p:nvPr>
        </p:nvSpPr>
        <p:spPr>
          <a:xfrm>
            <a:off x="5183189" y="2"/>
            <a:ext cx="7008812" cy="6857999"/>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hasCustomPrompt="1"/>
          </p:nvPr>
        </p:nvSpPr>
        <p:spPr>
          <a:xfrm>
            <a:off x="450058" y="2072481"/>
            <a:ext cx="3932237" cy="3811588"/>
          </a:xfrm>
        </p:spPr>
        <p:txBody>
          <a:bodyPr>
            <a:normAutofit/>
          </a:bodyPr>
          <a:lstStyle>
            <a:lvl1pPr marL="457189" indent="-457189">
              <a:buFont typeface="Arial" charset="0"/>
              <a:buChar char="•"/>
              <a:defRPr sz="2800">
                <a:solidFill>
                  <a:schemeClr val="bg1"/>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Supporting text goes here</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11/30/2025</a:t>
            </a:fld>
            <a:endParaRPr lang="en-US"/>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pic>
        <p:nvPicPr>
          <p:cNvPr id="12" name="Picture 11">
            <a:extLst>
              <a:ext uri="{FF2B5EF4-FFF2-40B4-BE49-F238E27FC236}">
                <a16:creationId xmlns:a16="http://schemas.microsoft.com/office/drawing/2014/main" id="{E01F5E0A-84A7-2F4C-A9C5-069A0CC392D2}"/>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460003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1314D"/>
                </a:solidFill>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11/30/2025</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7" name="Rectangle 6"/>
          <p:cNvSpPr/>
          <p:nvPr userDrawn="1"/>
        </p:nvSpPr>
        <p:spPr>
          <a:xfrm>
            <a:off x="-10048" y="6265545"/>
            <a:ext cx="12202048" cy="601701"/>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2" name="TextBox 11">
            <a:extLst>
              <a:ext uri="{FF2B5EF4-FFF2-40B4-BE49-F238E27FC236}">
                <a16:creationId xmlns:a16="http://schemas.microsoft.com/office/drawing/2014/main" id="{6C529638-9519-5646-BC6C-4C995584BC00}"/>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pic>
        <p:nvPicPr>
          <p:cNvPr id="13" name="Picture 12">
            <a:extLst>
              <a:ext uri="{FF2B5EF4-FFF2-40B4-BE49-F238E27FC236}">
                <a16:creationId xmlns:a16="http://schemas.microsoft.com/office/drawing/2014/main" id="{02467B4F-5A8F-3845-8B30-98B83A0003A1}"/>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1702230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lvl1pPr>
              <a:defRPr>
                <a:solidFill>
                  <a:srgbClr val="21314D"/>
                </a:solidFill>
              </a:defRPr>
            </a:lvl1pPr>
          </a:lstStyle>
          <a:p>
            <a:r>
              <a:rPr lang="en-US" dirty="0"/>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8923E60E-3077-9A4D-B784-FBCD6B1A2E3F}" type="datetimeFigureOut">
              <a:rPr lang="en-US" smtClean="0"/>
              <a:t>11/30/2025</a:t>
            </a:fld>
            <a:endParaRPr lang="en-US"/>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FAA3E255-DCE9-1E4B-905B-DD6A887BD484}" type="slidenum">
              <a:rPr lang="en-US" smtClean="0"/>
              <a:t>‹#›</a:t>
            </a:fld>
            <a:endParaRPr lang="en-US"/>
          </a:p>
        </p:txBody>
      </p:sp>
      <p:sp>
        <p:nvSpPr>
          <p:cNvPr id="7" name="Rectangle 6"/>
          <p:cNvSpPr/>
          <p:nvPr userDrawn="1"/>
        </p:nvSpPr>
        <p:spPr>
          <a:xfrm>
            <a:off x="-10048" y="6265545"/>
            <a:ext cx="12202048" cy="601701"/>
          </a:xfrm>
          <a:prstGeom prst="rect">
            <a:avLst/>
          </a:prstGeom>
          <a:solidFill>
            <a:srgbClr val="21314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2" name="TextBox 11">
            <a:extLst>
              <a:ext uri="{FF2B5EF4-FFF2-40B4-BE49-F238E27FC236}">
                <a16:creationId xmlns:a16="http://schemas.microsoft.com/office/drawing/2014/main" id="{1C06899B-D311-B446-8DBB-7D61E82846C1}"/>
              </a:ext>
            </a:extLst>
          </p:cNvPr>
          <p:cNvSpPr txBox="1"/>
          <p:nvPr userDrawn="1"/>
        </p:nvSpPr>
        <p:spPr>
          <a:xfrm>
            <a:off x="7478040" y="6398498"/>
            <a:ext cx="4489537" cy="369332"/>
          </a:xfrm>
          <a:prstGeom prst="rect">
            <a:avLst/>
          </a:prstGeom>
          <a:noFill/>
        </p:spPr>
        <p:txBody>
          <a:bodyPr wrap="square" rtlCol="0">
            <a:spAutoFit/>
          </a:bodyPr>
          <a:lstStyle/>
          <a:p>
            <a:pPr algn="r"/>
            <a:r>
              <a:rPr lang="en-US" sz="1800" b="1" i="0" dirty="0">
                <a:solidFill>
                  <a:schemeClr val="bg1"/>
                </a:solidFill>
                <a:latin typeface="Gotham" charset="0"/>
                <a:ea typeface="Gotham" charset="0"/>
                <a:cs typeface="Gotham" charset="0"/>
              </a:rPr>
              <a:t>MINES</a:t>
            </a:r>
            <a:r>
              <a:rPr lang="en-US" sz="1800" b="1" i="0" dirty="0">
                <a:solidFill>
                  <a:srgbClr val="D2492A"/>
                </a:solidFill>
                <a:latin typeface="Gotham" charset="0"/>
                <a:ea typeface="Gotham" charset="0"/>
                <a:cs typeface="Gotham" charset="0"/>
              </a:rPr>
              <a:t>.</a:t>
            </a:r>
            <a:r>
              <a:rPr lang="en-US" sz="1800" b="0" i="0" dirty="0">
                <a:solidFill>
                  <a:srgbClr val="92A2BD"/>
                </a:solidFill>
                <a:latin typeface="Gotham Book" charset="0"/>
                <a:ea typeface="Gotham Book" charset="0"/>
                <a:cs typeface="Gotham Book" charset="0"/>
              </a:rPr>
              <a:t>EDU</a:t>
            </a:r>
          </a:p>
        </p:txBody>
      </p:sp>
      <p:pic>
        <p:nvPicPr>
          <p:cNvPr id="13" name="Picture 12">
            <a:extLst>
              <a:ext uri="{FF2B5EF4-FFF2-40B4-BE49-F238E27FC236}">
                <a16:creationId xmlns:a16="http://schemas.microsoft.com/office/drawing/2014/main" id="{C4CB1FB3-2557-BB46-9386-C66D040E875F}"/>
              </a:ext>
            </a:extLst>
          </p:cNvPr>
          <p:cNvPicPr/>
          <p:nvPr userDrawn="1"/>
        </p:nvPicPr>
        <p:blipFill>
          <a:blip r:embed="rId2"/>
          <a:stretch>
            <a:fillRect/>
          </a:stretch>
        </p:blipFill>
        <p:spPr bwMode="auto">
          <a:xfrm>
            <a:off x="381003" y="6381481"/>
            <a:ext cx="3200395" cy="36431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36132304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Bottom_center">
    <p:spTree>
      <p:nvGrpSpPr>
        <p:cNvPr id="1" name=""/>
        <p:cNvGrpSpPr/>
        <p:nvPr/>
      </p:nvGrpSpPr>
      <p:grpSpPr>
        <a:xfrm>
          <a:off x="0" y="0"/>
          <a:ext cx="0" cy="0"/>
          <a:chOff x="0" y="0"/>
          <a:chExt cx="0" cy="0"/>
        </a:xfrm>
      </p:grpSpPr>
      <p:sp>
        <p:nvSpPr>
          <p:cNvPr id="8" name="Rectangle 7"/>
          <p:cNvSpPr/>
          <p:nvPr userDrawn="1"/>
        </p:nvSpPr>
        <p:spPr>
          <a:xfrm>
            <a:off x="228601" y="5896466"/>
            <a:ext cx="3988131" cy="96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307001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p:stCondLst>
                                    <p:cond delay="700"/>
                                  </p:stCondLst>
                                  <p:childTnLst>
                                    <p:animMotion origin="layout" path="M -1.66667E-6 -1.11111E-6 L 0.36602 -1.11111E-6 " pathEditMode="relative" rAng="0" ptsTypes="AA">
                                      <p:cBhvr>
                                        <p:cTn id="6" dur="1000" spd="-100000" fill="hold"/>
                                        <p:tgtEl>
                                          <p:spTgt spid="8"/>
                                        </p:tgtEl>
                                        <p:attrNameLst>
                                          <p:attrName>ppt_x</p:attrName>
                                          <p:attrName>ppt_y</p:attrName>
                                        </p:attrNameLst>
                                      </p:cBhvr>
                                      <p:rCtr x="1829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7B98E21-99A7-AE52-6C8E-B2F836D333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A3F8F0A-3280-3AE3-A1B1-04D506C57B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8DF547-E0FE-A264-2FD0-7DEAA0CD79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97742B7-90A2-4CED-85F0-85F1E541D4EA}" type="datetimeFigureOut">
              <a:rPr lang="en-US" smtClean="0"/>
              <a:t>11/30/2025</a:t>
            </a:fld>
            <a:endParaRPr lang="en-US"/>
          </a:p>
        </p:txBody>
      </p:sp>
      <p:sp>
        <p:nvSpPr>
          <p:cNvPr id="5" name="Footer Placeholder 4">
            <a:extLst>
              <a:ext uri="{FF2B5EF4-FFF2-40B4-BE49-F238E27FC236}">
                <a16:creationId xmlns:a16="http://schemas.microsoft.com/office/drawing/2014/main" id="{F16DB0BB-DD81-888E-A692-A8A3F5A9C7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BAEE059-CEB0-C3F9-8F68-38EE08DD9E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82BC25E-8CC1-49A3-9CB4-E2273F8455FA}" type="slidenum">
              <a:rPr lang="en-US" smtClean="0"/>
              <a:t>‹#›</a:t>
            </a:fld>
            <a:endParaRPr lang="en-US"/>
          </a:p>
        </p:txBody>
      </p:sp>
    </p:spTree>
    <p:extLst>
      <p:ext uri="{BB962C8B-B14F-4D97-AF65-F5344CB8AC3E}">
        <p14:creationId xmlns:p14="http://schemas.microsoft.com/office/powerpoint/2010/main" val="39300944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900820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377" rtl="0" eaLnBrk="1" latinLnBrk="0" hangingPunct="1">
        <a:lnSpc>
          <a:spcPct val="90000"/>
        </a:lnSpc>
        <a:spcBef>
          <a:spcPct val="0"/>
        </a:spcBef>
        <a:buNone/>
        <a:defRPr sz="4400" b="1" i="0" kern="1200">
          <a:solidFill>
            <a:srgbClr val="21314D"/>
          </a:solidFill>
          <a:latin typeface="Arial" panose="020B0604020202020204" pitchFamily="34" charset="0"/>
          <a:ea typeface="Arial" panose="020B0604020202020204" pitchFamily="34" charset="0"/>
          <a:cs typeface="Arial" panose="020B0604020202020204" pitchFamily="34" charset="0"/>
        </a:defRPr>
      </a:lvl1pPr>
    </p:titleStyle>
    <p:bodyStyle>
      <a:lvl1pPr marL="228594" indent="-228594" algn="l" defTabSz="914377" rtl="0" eaLnBrk="1" latinLnBrk="0" hangingPunct="1">
        <a:lnSpc>
          <a:spcPct val="90000"/>
        </a:lnSpc>
        <a:spcBef>
          <a:spcPts val="1000"/>
        </a:spcBef>
        <a:buFont typeface="Arial"/>
        <a:buChar char="•"/>
        <a:defRPr sz="2800" b="0" i="0" kern="1200">
          <a:solidFill>
            <a:schemeClr val="tx1"/>
          </a:solidFill>
          <a:latin typeface="Arial" panose="020B0604020202020204" pitchFamily="34" charset="0"/>
          <a:ea typeface="Arial" panose="020B0604020202020204" pitchFamily="34" charset="0"/>
          <a:cs typeface="Arial" panose="020B0604020202020204" pitchFamily="34" charset="0"/>
        </a:defRPr>
      </a:lvl1pPr>
      <a:lvl2pPr marL="685783" indent="-228594" algn="l" defTabSz="914377" rtl="0" eaLnBrk="1" latinLnBrk="0" hangingPunct="1">
        <a:lnSpc>
          <a:spcPct val="90000"/>
        </a:lnSpc>
        <a:spcBef>
          <a:spcPts val="500"/>
        </a:spcBef>
        <a:buFont typeface="Arial"/>
        <a:buChar char="•"/>
        <a:defRPr sz="2400" b="0" i="0" kern="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2971" indent="-228594" algn="l" defTabSz="914377" rtl="0" eaLnBrk="1" latinLnBrk="0" hangingPunct="1">
        <a:lnSpc>
          <a:spcPct val="90000"/>
        </a:lnSpc>
        <a:spcBef>
          <a:spcPts val="500"/>
        </a:spcBef>
        <a:buFont typeface="Arial"/>
        <a:buChar char="•"/>
        <a:defRPr sz="2000" b="0" i="0" kern="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160" indent="-228594" algn="l" defTabSz="914377" rtl="0" eaLnBrk="1" latinLnBrk="0" hangingPunct="1">
        <a:lnSpc>
          <a:spcPct val="90000"/>
        </a:lnSpc>
        <a:spcBef>
          <a:spcPts val="500"/>
        </a:spcBef>
        <a:buFont typeface="Arial"/>
        <a:buChar char="•"/>
        <a:defRPr sz="1800" b="0" i="0" kern="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349" indent="-228594" algn="l" defTabSz="914377" rtl="0" eaLnBrk="1" latinLnBrk="0" hangingPunct="1">
        <a:lnSpc>
          <a:spcPct val="90000"/>
        </a:lnSpc>
        <a:spcBef>
          <a:spcPts val="500"/>
        </a:spcBef>
        <a:buFont typeface="Arial"/>
        <a:buChar char="•"/>
        <a:defRPr sz="1800" b="0" i="0" kern="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537"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5371" y="1807535"/>
            <a:ext cx="10803672" cy="1155100"/>
          </a:xfrm>
        </p:spPr>
        <p:txBody>
          <a:bodyPr>
            <a:normAutofit/>
          </a:bodyPr>
          <a:lstStyle/>
          <a:p>
            <a:r>
              <a:rPr lang="en-US" dirty="0"/>
              <a:t>Optimizing Refinery Operations</a:t>
            </a:r>
          </a:p>
        </p:txBody>
      </p:sp>
      <p:sp>
        <p:nvSpPr>
          <p:cNvPr id="3" name="Subtitle 2"/>
          <p:cNvSpPr>
            <a:spLocks noGrp="1"/>
          </p:cNvSpPr>
          <p:nvPr>
            <p:ph type="subTitle" idx="1"/>
          </p:nvPr>
        </p:nvSpPr>
        <p:spPr>
          <a:xfrm>
            <a:off x="395370" y="3444900"/>
            <a:ext cx="11187029" cy="2197838"/>
          </a:xfrm>
        </p:spPr>
        <p:txBody>
          <a:bodyPr>
            <a:noAutofit/>
          </a:bodyPr>
          <a:lstStyle/>
          <a:p>
            <a:r>
              <a:rPr lang="en-US" sz="2400" dirty="0"/>
              <a:t>Abdulrahman Alturki</a:t>
            </a:r>
          </a:p>
          <a:p>
            <a:endParaRPr lang="en-US" sz="2400" dirty="0"/>
          </a:p>
          <a:p>
            <a:r>
              <a:rPr lang="en-GB" sz="2400" dirty="0"/>
              <a:t>EBGN 645: Computional Economics</a:t>
            </a:r>
          </a:p>
          <a:p>
            <a:r>
              <a:rPr lang="en-US" sz="2400" dirty="0"/>
              <a:t>Final Project</a:t>
            </a:r>
          </a:p>
          <a:p>
            <a:endParaRPr lang="en-US" sz="2400" dirty="0"/>
          </a:p>
          <a:p>
            <a:r>
              <a:rPr lang="en-US" sz="2400" dirty="0"/>
              <a:t>December 01, 2025</a:t>
            </a:r>
          </a:p>
        </p:txBody>
      </p:sp>
    </p:spTree>
    <p:extLst>
      <p:ext uri="{BB962C8B-B14F-4D97-AF65-F5344CB8AC3E}">
        <p14:creationId xmlns:p14="http://schemas.microsoft.com/office/powerpoint/2010/main" val="3830172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6BAB9-15F5-BC56-E2F9-A0EACE79F980}"/>
            </a:ext>
          </a:extLst>
        </p:cNvPr>
        <p:cNvGrpSpPr/>
        <p:nvPr/>
      </p:nvGrpSpPr>
      <p:grpSpPr>
        <a:xfrm>
          <a:off x="0" y="0"/>
          <a:ext cx="0" cy="0"/>
          <a:chOff x="0" y="0"/>
          <a:chExt cx="0" cy="0"/>
        </a:xfrm>
      </p:grpSpPr>
      <p:sp>
        <p:nvSpPr>
          <p:cNvPr id="4" name="AutoShape 7">
            <a:extLst>
              <a:ext uri="{FF2B5EF4-FFF2-40B4-BE49-F238E27FC236}">
                <a16:creationId xmlns:a16="http://schemas.microsoft.com/office/drawing/2014/main" id="{798092FC-4DC3-D644-2741-9EEE614D1BB1}"/>
              </a:ext>
            </a:extLst>
          </p:cNvPr>
          <p:cNvSpPr/>
          <p:nvPr/>
        </p:nvSpPr>
        <p:spPr>
          <a:xfrm>
            <a:off x="36669" y="466690"/>
            <a:ext cx="11839074" cy="0"/>
          </a:xfrm>
          <a:prstGeom prst="line">
            <a:avLst/>
          </a:prstGeom>
          <a:ln w="28575" cap="flat">
            <a:solidFill>
              <a:srgbClr val="D1D5D9"/>
            </a:solidFill>
            <a:prstDash val="solid"/>
            <a:headEnd type="none" w="sm" len="sm"/>
            <a:tailEnd type="none" w="sm" len="sm"/>
          </a:ln>
        </p:spPr>
        <p:txBody>
          <a:bodyPr/>
          <a:lstStyle/>
          <a:p>
            <a:endParaRPr lang="en-US" sz="1200"/>
          </a:p>
        </p:txBody>
      </p:sp>
      <p:sp>
        <p:nvSpPr>
          <p:cNvPr id="6" name="TextBox 5">
            <a:extLst>
              <a:ext uri="{FF2B5EF4-FFF2-40B4-BE49-F238E27FC236}">
                <a16:creationId xmlns:a16="http://schemas.microsoft.com/office/drawing/2014/main" id="{7E42160F-2355-3634-D251-60203897BFEA}"/>
              </a:ext>
            </a:extLst>
          </p:cNvPr>
          <p:cNvSpPr txBox="1"/>
          <p:nvPr/>
        </p:nvSpPr>
        <p:spPr>
          <a:xfrm>
            <a:off x="112295" y="16042"/>
            <a:ext cx="9881937" cy="461665"/>
          </a:xfrm>
          <a:prstGeom prst="rect">
            <a:avLst/>
          </a:prstGeom>
          <a:noFill/>
        </p:spPr>
        <p:txBody>
          <a:bodyPr wrap="square">
            <a:spAutoFit/>
          </a:bodyPr>
          <a:lstStyle/>
          <a:p>
            <a:r>
              <a:rPr lang="en-US" sz="2400" b="1"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Research Question </a:t>
            </a:r>
            <a:endParaRPr lang="en-US" sz="2400" b="1" dirty="0">
              <a:solidFill>
                <a:schemeClr val="accent1"/>
              </a:solidFill>
            </a:endParaRPr>
          </a:p>
        </p:txBody>
      </p:sp>
      <p:sp>
        <p:nvSpPr>
          <p:cNvPr id="13" name="TextBox 12">
            <a:extLst>
              <a:ext uri="{FF2B5EF4-FFF2-40B4-BE49-F238E27FC236}">
                <a16:creationId xmlns:a16="http://schemas.microsoft.com/office/drawing/2014/main" id="{C8A6DF4E-9F48-C621-9F46-5015C37CFFB6}"/>
              </a:ext>
            </a:extLst>
          </p:cNvPr>
          <p:cNvSpPr txBox="1"/>
          <p:nvPr/>
        </p:nvSpPr>
        <p:spPr>
          <a:xfrm>
            <a:off x="0" y="715702"/>
            <a:ext cx="11946581" cy="5549468"/>
          </a:xfrm>
          <a:prstGeom prst="rect">
            <a:avLst/>
          </a:prstGeom>
          <a:noFill/>
        </p:spPr>
        <p:txBody>
          <a:bodyPr wrap="square">
            <a:spAutoFit/>
          </a:bodyPr>
          <a:lstStyle/>
          <a:p>
            <a:pPr lvl="1" algn="just">
              <a:lnSpc>
                <a:spcPct val="200000"/>
              </a:lnSpc>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Refined Products such as Gasoline and Middle Distillate are essential for daily life needs including transportation, operating industries, paving roads, and running equipment, other related critical needs to run our day smoothly. This study aims to show </a:t>
            </a:r>
            <a:r>
              <a:rPr lang="en-US" sz="2000" b="1" i="1" dirty="0"/>
              <a:t>how an integrated LP, NLP, and MCP modeling structure can assess refinery performance, optimize product allocation, and measure market output levels under capacity constraints and crude supply availability. The aim of this study is to show how the most optimum refinery in a certain area generates profit and adjust production figures in response to market challenges and across several scenarios to demonstrate how production levels (outcomes) vary across LP, NLP, and MCP structures.   </a:t>
            </a:r>
          </a:p>
          <a:p>
            <a:pPr lvl="1" algn="just">
              <a:lnSpc>
                <a:spcPct val="200000"/>
              </a:lnSpc>
            </a:pPr>
            <a:endParaRPr lang="en-US" sz="2000" b="1"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018689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7">
            <a:extLst>
              <a:ext uri="{FF2B5EF4-FFF2-40B4-BE49-F238E27FC236}">
                <a16:creationId xmlns:a16="http://schemas.microsoft.com/office/drawing/2014/main" id="{C9A938B7-B461-3B94-2D32-08D07D7219E6}"/>
              </a:ext>
            </a:extLst>
          </p:cNvPr>
          <p:cNvSpPr/>
          <p:nvPr/>
        </p:nvSpPr>
        <p:spPr>
          <a:xfrm>
            <a:off x="80211" y="507353"/>
            <a:ext cx="11839074" cy="0"/>
          </a:xfrm>
          <a:prstGeom prst="line">
            <a:avLst/>
          </a:prstGeom>
          <a:ln w="28575" cap="flat">
            <a:solidFill>
              <a:srgbClr val="D1D5D9"/>
            </a:solidFill>
            <a:prstDash val="solid"/>
            <a:headEnd type="none" w="sm" len="sm"/>
            <a:tailEnd type="none" w="sm" len="sm"/>
          </a:ln>
        </p:spPr>
        <p:txBody>
          <a:bodyPr/>
          <a:lstStyle/>
          <a:p>
            <a:endParaRPr lang="en-US" sz="1200"/>
          </a:p>
        </p:txBody>
      </p:sp>
      <p:sp>
        <p:nvSpPr>
          <p:cNvPr id="6" name="TextBox 5">
            <a:extLst>
              <a:ext uri="{FF2B5EF4-FFF2-40B4-BE49-F238E27FC236}">
                <a16:creationId xmlns:a16="http://schemas.microsoft.com/office/drawing/2014/main" id="{68710B81-0E18-1A0D-1F1A-5F9955D3C402}"/>
              </a:ext>
            </a:extLst>
          </p:cNvPr>
          <p:cNvSpPr txBox="1"/>
          <p:nvPr/>
        </p:nvSpPr>
        <p:spPr>
          <a:xfrm>
            <a:off x="144379" y="64168"/>
            <a:ext cx="9881937" cy="461665"/>
          </a:xfrm>
          <a:prstGeom prst="rect">
            <a:avLst/>
          </a:prstGeom>
          <a:noFill/>
        </p:spPr>
        <p:txBody>
          <a:bodyPr wrap="square">
            <a:spAutoFit/>
          </a:bodyPr>
          <a:lstStyle/>
          <a:p>
            <a:r>
              <a:rPr lang="en-US" sz="2400" b="1" dirty="0">
                <a:solidFill>
                  <a:schemeClr val="accent1"/>
                </a:solidFill>
                <a:effectLst/>
                <a:latin typeface="Calibri" panose="020F0502020204030204" pitchFamily="34" charset="0"/>
                <a:ea typeface="Calibri" panose="020F0502020204030204" pitchFamily="34" charset="0"/>
                <a:cs typeface="Times New Roman" panose="02020603050405020304" pitchFamily="18" charset="0"/>
              </a:rPr>
              <a:t>Motivation</a:t>
            </a:r>
            <a:endParaRPr lang="en-US" sz="2400" b="1" dirty="0">
              <a:solidFill>
                <a:schemeClr val="accent1"/>
              </a:solidFill>
            </a:endParaRPr>
          </a:p>
        </p:txBody>
      </p:sp>
      <p:sp>
        <p:nvSpPr>
          <p:cNvPr id="13" name="TextBox 12">
            <a:extLst>
              <a:ext uri="{FF2B5EF4-FFF2-40B4-BE49-F238E27FC236}">
                <a16:creationId xmlns:a16="http://schemas.microsoft.com/office/drawing/2014/main" id="{9B003D57-D312-502F-AC59-9000FC1511E5}"/>
              </a:ext>
            </a:extLst>
          </p:cNvPr>
          <p:cNvSpPr txBox="1"/>
          <p:nvPr/>
        </p:nvSpPr>
        <p:spPr>
          <a:xfrm>
            <a:off x="14988" y="415365"/>
            <a:ext cx="12177011" cy="3556615"/>
          </a:xfrm>
          <a:prstGeom prst="rect">
            <a:avLst/>
          </a:prstGeom>
          <a:noFill/>
        </p:spPr>
        <p:txBody>
          <a:bodyPr wrap="square">
            <a:spAutoFit/>
          </a:bodyPr>
          <a:lstStyle/>
          <a:p>
            <a:pPr marR="0" lvl="0" algn="just">
              <a:lnSpc>
                <a:spcPct val="150000"/>
              </a:lnSpc>
            </a:pPr>
            <a:r>
              <a:rPr lang="en-US" sz="2800" b="1" kern="100" dirty="0">
                <a:latin typeface="Aptos" panose="020B0004020202020204" pitchFamily="34" charset="0"/>
                <a:ea typeface="Aptos" panose="020B0004020202020204" pitchFamily="34" charset="0"/>
                <a:cs typeface="Times New Roman" panose="02020603050405020304" pitchFamily="18" charset="0"/>
              </a:rPr>
              <a:t>Main Highlights about the Project </a:t>
            </a:r>
          </a:p>
          <a:p>
            <a:pPr marL="285750" marR="0" lvl="0" indent="-285750" algn="just">
              <a:lnSpc>
                <a:spcPct val="150000"/>
              </a:lnSpc>
              <a:buFont typeface="Wingdings" panose="05000000000000000000" pitchFamily="2" charset="2"/>
              <a:buChar char="q"/>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Energy sector is growing rapidly and representing a great opportunity for profit maximization </a:t>
            </a:r>
          </a:p>
          <a:p>
            <a:pPr marL="285750" marR="0" lvl="0" indent="-285750" algn="just">
              <a:lnSpc>
                <a:spcPct val="150000"/>
              </a:lnSpc>
              <a:buFont typeface="Wingdings" panose="05000000000000000000" pitchFamily="2" charset="2"/>
              <a:buChar char="q"/>
            </a:pPr>
            <a:r>
              <a:rPr lang="en-US" sz="2000" kern="100" dirty="0">
                <a:latin typeface="Aptos" panose="020B0004020202020204" pitchFamily="34" charset="0"/>
                <a:ea typeface="Aptos" panose="020B0004020202020204" pitchFamily="34" charset="0"/>
                <a:cs typeface="Times New Roman" panose="02020603050405020304" pitchFamily="18" charset="0"/>
              </a:rPr>
              <a:t> Refineries play a critical role as it converts the crude oil to more valuable products called refined products </a:t>
            </a:r>
          </a:p>
          <a:p>
            <a:pPr marL="285750" marR="0" lvl="0" indent="-285750" algn="just">
              <a:lnSpc>
                <a:spcPct val="150000"/>
              </a:lnSpc>
              <a:buFont typeface="Wingdings" panose="05000000000000000000" pitchFamily="2" charset="2"/>
              <a:buChar char="q"/>
            </a:pPr>
            <a:r>
              <a:rPr lang="en-US" sz="2000" kern="100" dirty="0">
                <a:latin typeface="Aptos" panose="020B0004020202020204" pitchFamily="34" charset="0"/>
                <a:ea typeface="Aptos" panose="020B0004020202020204" pitchFamily="34" charset="0"/>
                <a:cs typeface="Times New Roman" panose="02020603050405020304" pitchFamily="18" charset="0"/>
              </a:rPr>
              <a:t> Refinery operations depend on refined products demand, crude availability and prices, capacity limitations, and environmental regulations</a:t>
            </a:r>
          </a:p>
          <a:p>
            <a:pPr marL="285750" marR="0" lvl="0" indent="-285750" algn="just">
              <a:lnSpc>
                <a:spcPct val="150000"/>
              </a:lnSpc>
              <a:buFont typeface="Wingdings" panose="05000000000000000000" pitchFamily="2" charset="2"/>
              <a:buChar char="q"/>
            </a:pPr>
            <a:r>
              <a:rPr lang="en-US" sz="2000" kern="100" dirty="0">
                <a:latin typeface="Aptos" panose="020B0004020202020204" pitchFamily="34" charset="0"/>
                <a:ea typeface="Aptos" panose="020B0004020202020204" pitchFamily="34" charset="0"/>
                <a:cs typeface="Times New Roman" panose="02020603050405020304" pitchFamily="18" charset="0"/>
              </a:rPr>
              <a:t>Efficient refinery optimization ensures reliable supply for businesses and householders, which supports economic stability and enhances energy supply securities</a:t>
            </a:r>
          </a:p>
        </p:txBody>
      </p:sp>
      <p:pic>
        <p:nvPicPr>
          <p:cNvPr id="3" name="Picture 2" descr="A diagram of a diagram&#10;&#10;AI-generated content may be incorrect.">
            <a:extLst>
              <a:ext uri="{FF2B5EF4-FFF2-40B4-BE49-F238E27FC236}">
                <a16:creationId xmlns:a16="http://schemas.microsoft.com/office/drawing/2014/main" id="{EECE40F9-3BAB-CF0E-8163-4EEB97A4B8E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08861" y="4140298"/>
            <a:ext cx="7333932" cy="2561456"/>
          </a:xfrm>
          <a:prstGeom prst="rect">
            <a:avLst/>
          </a:prstGeom>
          <a:noFill/>
          <a:ln>
            <a:solidFill>
              <a:schemeClr val="tx1"/>
            </a:solidFill>
          </a:ln>
        </p:spPr>
      </p:pic>
    </p:spTree>
    <p:custDataLst>
      <p:tags r:id="rId1"/>
    </p:custDataLst>
    <p:extLst>
      <p:ext uri="{BB962C8B-B14F-4D97-AF65-F5344CB8AC3E}">
        <p14:creationId xmlns:p14="http://schemas.microsoft.com/office/powerpoint/2010/main" val="130695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4F84B-0182-2060-5897-5743E7AB1024}"/>
            </a:ext>
          </a:extLst>
        </p:cNvPr>
        <p:cNvGrpSpPr/>
        <p:nvPr/>
      </p:nvGrpSpPr>
      <p:grpSpPr>
        <a:xfrm>
          <a:off x="0" y="0"/>
          <a:ext cx="0" cy="0"/>
          <a:chOff x="0" y="0"/>
          <a:chExt cx="0" cy="0"/>
        </a:xfrm>
      </p:grpSpPr>
      <p:sp>
        <p:nvSpPr>
          <p:cNvPr id="4" name="AutoShape 7">
            <a:extLst>
              <a:ext uri="{FF2B5EF4-FFF2-40B4-BE49-F238E27FC236}">
                <a16:creationId xmlns:a16="http://schemas.microsoft.com/office/drawing/2014/main" id="{00F5A9FF-5888-568E-F674-87C4321BF119}"/>
              </a:ext>
            </a:extLst>
          </p:cNvPr>
          <p:cNvSpPr/>
          <p:nvPr/>
        </p:nvSpPr>
        <p:spPr>
          <a:xfrm>
            <a:off x="80211" y="459432"/>
            <a:ext cx="11839074" cy="0"/>
          </a:xfrm>
          <a:prstGeom prst="line">
            <a:avLst/>
          </a:prstGeom>
          <a:ln w="28575" cap="flat">
            <a:solidFill>
              <a:srgbClr val="D1D5D9"/>
            </a:solidFill>
            <a:prstDash val="solid"/>
            <a:headEnd type="none" w="sm" len="sm"/>
            <a:tailEnd type="none" w="sm" len="sm"/>
          </a:ln>
        </p:spPr>
        <p:txBody>
          <a:bodyPr/>
          <a:lstStyle/>
          <a:p>
            <a:endParaRPr lang="en-US" sz="1200"/>
          </a:p>
        </p:txBody>
      </p:sp>
      <p:sp>
        <p:nvSpPr>
          <p:cNvPr id="6" name="TextBox 5">
            <a:extLst>
              <a:ext uri="{FF2B5EF4-FFF2-40B4-BE49-F238E27FC236}">
                <a16:creationId xmlns:a16="http://schemas.microsoft.com/office/drawing/2014/main" id="{C2DB080F-3E11-F649-B17A-691634993C77}"/>
              </a:ext>
            </a:extLst>
          </p:cNvPr>
          <p:cNvSpPr txBox="1"/>
          <p:nvPr/>
        </p:nvSpPr>
        <p:spPr>
          <a:xfrm>
            <a:off x="128337" y="16042"/>
            <a:ext cx="9881937" cy="461665"/>
          </a:xfrm>
          <a:prstGeom prst="rect">
            <a:avLst/>
          </a:prstGeom>
          <a:noFill/>
        </p:spPr>
        <p:txBody>
          <a:bodyPr wrap="square">
            <a:spAutoFit/>
          </a:bodyPr>
          <a:lstStyle/>
          <a:p>
            <a:r>
              <a:rPr lang="en-US" sz="2400" b="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Model Formulation </a:t>
            </a:r>
            <a:endParaRPr lang="en-US" sz="2400" b="1" dirty="0">
              <a:solidFill>
                <a:schemeClr val="accent1"/>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1276BBA-5B83-AD63-F177-D6F00DD96346}"/>
                  </a:ext>
                </a:extLst>
              </p:cNvPr>
              <p:cNvSpPr txBox="1"/>
              <p:nvPr/>
            </p:nvSpPr>
            <p:spPr>
              <a:xfrm>
                <a:off x="-4788" y="354644"/>
                <a:ext cx="12179433" cy="6523709"/>
              </a:xfrm>
              <a:prstGeom prst="rect">
                <a:avLst/>
              </a:prstGeom>
              <a:noFill/>
            </p:spPr>
            <p:txBody>
              <a:bodyPr wrap="square">
                <a:spAutoFit/>
              </a:bodyPr>
              <a:lstStyle/>
              <a:p>
                <a:pPr algn="just">
                  <a:lnSpc>
                    <a:spcPct val="150000"/>
                  </a:lnSpc>
                </a:pPr>
                <a:r>
                  <a:rPr lang="en-US" b="1" kern="100" dirty="0">
                    <a:latin typeface="Aptos" panose="020B0004020202020204" pitchFamily="34" charset="0"/>
                    <a:cs typeface="Times New Roman" panose="02020603050405020304" pitchFamily="18" charset="0"/>
                  </a:rPr>
                  <a:t>Set/Indices: </a:t>
                </a:r>
              </a:p>
              <a:p>
                <a:pPr marL="1200150" lvl="2" indent="-285750">
                  <a:buFont typeface="Wingdings" panose="05000000000000000000" pitchFamily="2" charset="2"/>
                  <a:buChar char="q"/>
                </a:pPr>
                <a:r>
                  <a:rPr lang="en-US" dirty="0"/>
                  <a:t>Products </a:t>
                </a:r>
                <a:r>
                  <a:rPr lang="en-US" dirty="0" err="1"/>
                  <a:t>i</a:t>
                </a:r>
                <a:r>
                  <a:rPr lang="en-US" dirty="0"/>
                  <a:t> € {G,MD}; G=Gasoline, MD=Middle Distillates (Diesel &amp; Jet Fuel); </a:t>
                </a:r>
              </a:p>
              <a:p>
                <a:pPr marL="1200150" lvl="2" indent="-285750">
                  <a:buFont typeface="Wingdings" panose="05000000000000000000" pitchFamily="2" charset="2"/>
                  <a:buChar char="q"/>
                </a:pPr>
                <a:r>
                  <a:rPr lang="en-US" dirty="0"/>
                  <a:t>Crude Sources s € {US, Brent}</a:t>
                </a:r>
              </a:p>
              <a:p>
                <a:pPr marL="1200150" lvl="2" indent="-285750">
                  <a:buFont typeface="Wingdings" panose="05000000000000000000" pitchFamily="2" charset="2"/>
                  <a:buChar char="q"/>
                </a:pPr>
                <a:r>
                  <a:rPr lang="en-US" dirty="0"/>
                  <a:t>Customers types u € {A, B}</a:t>
                </a:r>
              </a:p>
              <a:p>
                <a:pPr lvl="2"/>
                <a:endParaRPr lang="en-US" b="1" kern="100" dirty="0">
                  <a:latin typeface="Aptos" panose="020B0004020202020204" pitchFamily="34" charset="0"/>
                  <a:cs typeface="Times New Roman" panose="02020603050405020304" pitchFamily="18" charset="0"/>
                </a:endParaRPr>
              </a:p>
              <a:p>
                <a:pPr marL="0" lvl="2" algn="just">
                  <a:lnSpc>
                    <a:spcPct val="150000"/>
                  </a:lnSpc>
                </a:pPr>
                <a:r>
                  <a:rPr lang="en-US" b="1" kern="100" dirty="0">
                    <a:latin typeface="Aptos" panose="020B0004020202020204" pitchFamily="34" charset="0"/>
                    <a:cs typeface="Times New Roman" panose="02020603050405020304" pitchFamily="18" charset="0"/>
                  </a:rPr>
                  <a:t>Key Inputs:</a:t>
                </a:r>
              </a:p>
              <a:p>
                <a:pPr marL="1200150" lvl="2" indent="-285750">
                  <a:buFont typeface="Wingdings" panose="05000000000000000000" pitchFamily="2" charset="2"/>
                  <a:buChar char="q"/>
                </a:pPr>
                <a:endParaRPr lang="en-US" b="1" kern="100" dirty="0">
                  <a:latin typeface="Aptos" panose="020B0004020202020204" pitchFamily="34" charset="0"/>
                  <a:cs typeface="Times New Roman" panose="02020603050405020304" pitchFamily="18" charset="0"/>
                </a:endParaRPr>
              </a:p>
              <a:p>
                <a:pPr marL="1200150" lvl="2" indent="-285750">
                  <a:buFont typeface="Wingdings" panose="05000000000000000000" pitchFamily="2" charset="2"/>
                  <a:buChar char="q"/>
                </a:pPr>
                <a:r>
                  <a:rPr lang="en-US" dirty="0"/>
                  <a:t>Product prices (similar for both customers) </a:t>
                </a:r>
              </a:p>
              <a:p>
                <a:pPr marL="1200150" lvl="2" indent="-285750">
                  <a:buFont typeface="Wingdings" panose="05000000000000000000" pitchFamily="2" charset="2"/>
                  <a:buChar char="q"/>
                </a:pPr>
                <a:r>
                  <a:rPr lang="en-US" dirty="0"/>
                  <a:t>Crude (feedstocks) prices and quantity for each source</a:t>
                </a:r>
              </a:p>
              <a:p>
                <a:pPr marL="1200150" lvl="2" indent="-285750">
                  <a:buFont typeface="Wingdings" panose="05000000000000000000" pitchFamily="2" charset="2"/>
                  <a:buChar char="q"/>
                </a:pPr>
                <a:r>
                  <a:rPr lang="en-US" dirty="0"/>
                  <a:t>Refinery processing capacity (140,000 </a:t>
                </a:r>
                <a:r>
                  <a:rPr lang="en-US" dirty="0" err="1"/>
                  <a:t>bbl</a:t>
                </a:r>
                <a:r>
                  <a:rPr lang="en-US" dirty="0"/>
                  <a:t>/day) </a:t>
                </a:r>
              </a:p>
              <a:p>
                <a:pPr marL="1200150" lvl="2" indent="-285750">
                  <a:buFont typeface="Wingdings" panose="05000000000000000000" pitchFamily="2" charset="2"/>
                  <a:buChar char="q"/>
                </a:pPr>
                <a:r>
                  <a:rPr lang="en-US" dirty="0"/>
                  <a:t>Crude supply elasticity </a:t>
                </a:r>
              </a:p>
              <a:p>
                <a:pPr marL="1200150" lvl="2" indent="-285750">
                  <a:buFont typeface="Wingdings" panose="05000000000000000000" pitchFamily="2" charset="2"/>
                  <a:buChar char="q"/>
                </a:pPr>
                <a:r>
                  <a:rPr lang="en-US" dirty="0"/>
                  <a:t>Products supply and demand elasticities</a:t>
                </a:r>
              </a:p>
              <a:p>
                <a:pPr marL="0" lvl="2" algn="just">
                  <a:lnSpc>
                    <a:spcPct val="150000"/>
                  </a:lnSpc>
                </a:pPr>
                <a:r>
                  <a:rPr lang="en-US" b="1" kern="100" dirty="0">
                    <a:latin typeface="Aptos" panose="020B0004020202020204" pitchFamily="34" charset="0"/>
                    <a:cs typeface="Times New Roman" panose="02020603050405020304" pitchFamily="18" charset="0"/>
                  </a:rPr>
                  <a:t>Main Functions: </a:t>
                </a:r>
              </a:p>
              <a:p>
                <a:r>
                  <a:rPr lang="en-US" dirty="0"/>
                  <a:t>Supply Slope: 		     </a:t>
                </a:r>
                <a14:m>
                  <m:oMath xmlns:m="http://schemas.openxmlformats.org/officeDocument/2006/math">
                    <m:r>
                      <m:rPr>
                        <m:sty m:val="p"/>
                      </m:rPr>
                      <a:rPr lang="en-US" dirty="0">
                        <a:latin typeface="Cambria Math" panose="02040503050406030204" pitchFamily="18" charset="0"/>
                      </a:rPr>
                      <m:t>d</m:t>
                    </m:r>
                    <m:r>
                      <a:rPr lang="en-US">
                        <a:latin typeface="Cambria Math" panose="02040503050406030204" pitchFamily="18" charset="0"/>
                      </a:rPr>
                      <m:t>(</m:t>
                    </m:r>
                    <m:r>
                      <m:rPr>
                        <m:sty m:val="p"/>
                      </m:rPr>
                      <a:rPr lang="en-US">
                        <a:latin typeface="Cambria Math" panose="02040503050406030204" pitchFamily="18" charset="0"/>
                      </a:rPr>
                      <m:t>i</m:t>
                    </m:r>
                    <m:r>
                      <a:rPr lang="en-US">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Elasticity</m:t>
                        </m:r>
                        <m:r>
                          <a:rPr lang="en-US">
                            <a:latin typeface="Cambria Math" panose="02040503050406030204" pitchFamily="18" charset="0"/>
                          </a:rPr>
                          <m:t> </m:t>
                        </m:r>
                      </m:e>
                      <m:sub>
                        <m:r>
                          <m:rPr>
                            <m:sty m:val="p"/>
                          </m:rPr>
                          <a:rPr lang="en-US">
                            <a:latin typeface="Cambria Math" panose="02040503050406030204" pitchFamily="18" charset="0"/>
                          </a:rPr>
                          <m:t>S</m:t>
                        </m:r>
                      </m:sub>
                    </m:sSub>
                    <m:d>
                      <m:dPr>
                        <m:ctrlPr>
                          <a:rPr lang="en-US" i="1">
                            <a:latin typeface="Cambria Math" panose="02040503050406030204" pitchFamily="18" charset="0"/>
                          </a:rPr>
                        </m:ctrlPr>
                      </m:dPr>
                      <m:e>
                        <m:r>
                          <m:rPr>
                            <m:sty m:val="p"/>
                          </m:rPr>
                          <a:rPr lang="en-US">
                            <a:latin typeface="Cambria Math" panose="02040503050406030204" pitchFamily="18" charset="0"/>
                          </a:rPr>
                          <m:t>i</m:t>
                        </m:r>
                      </m:e>
                    </m:d>
                    <m:r>
                      <a:rPr lang="en-US">
                        <a:latin typeface="Cambria Math" panose="02040503050406030204" pitchFamily="18" charset="0"/>
                      </a:rPr>
                      <m:t>|</m:t>
                    </m:r>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m:rPr>
                                <m:sty m:val="p"/>
                              </m:rPr>
                              <a:rPr lang="en-US">
                                <a:latin typeface="Cambria Math" panose="02040503050406030204" pitchFamily="18" charset="0"/>
                              </a:rPr>
                              <m:t>P</m:t>
                            </m:r>
                          </m:e>
                          <m:sub>
                            <m:r>
                              <m:rPr>
                                <m:sty m:val="p"/>
                              </m:rPr>
                              <a:rPr lang="en-US">
                                <a:latin typeface="Cambria Math" panose="02040503050406030204" pitchFamily="18" charset="0"/>
                              </a:rPr>
                              <m:t>avg</m:t>
                            </m:r>
                            <m:r>
                              <a:rPr lang="en-US">
                                <a:latin typeface="Cambria Math" panose="02040503050406030204" pitchFamily="18" charset="0"/>
                              </a:rPr>
                              <m:t>(</m:t>
                            </m:r>
                            <m:r>
                              <m:rPr>
                                <m:sty m:val="p"/>
                              </m:rPr>
                              <a:rPr lang="en-US">
                                <a:latin typeface="Cambria Math" panose="02040503050406030204" pitchFamily="18" charset="0"/>
                              </a:rPr>
                              <m:t>i</m:t>
                            </m:r>
                            <m:r>
                              <a:rPr lang="en-US">
                                <a:latin typeface="Cambria Math" panose="02040503050406030204" pitchFamily="18" charset="0"/>
                              </a:rPr>
                              <m:t>)</m:t>
                            </m:r>
                          </m:sub>
                        </m:sSub>
                      </m:num>
                      <m:den>
                        <m:sSub>
                          <m:sSubPr>
                            <m:ctrlPr>
                              <a:rPr lang="en-US" i="1">
                                <a:latin typeface="Cambria Math" panose="02040503050406030204" pitchFamily="18" charset="0"/>
                              </a:rPr>
                            </m:ctrlPr>
                          </m:sSubPr>
                          <m:e>
                            <m:r>
                              <m:rPr>
                                <m:sty m:val="p"/>
                              </m:rPr>
                              <a:rPr lang="en-US">
                                <a:latin typeface="Cambria Math" panose="02040503050406030204" pitchFamily="18" charset="0"/>
                              </a:rPr>
                              <m:t>Q</m:t>
                            </m:r>
                          </m:e>
                          <m:sub>
                            <m:r>
                              <m:rPr>
                                <m:sty m:val="p"/>
                              </m:rPr>
                              <a:rPr lang="en-US">
                                <a:latin typeface="Cambria Math" panose="02040503050406030204" pitchFamily="18" charset="0"/>
                              </a:rPr>
                              <m:t>avg</m:t>
                            </m:r>
                            <m:r>
                              <a:rPr lang="en-US">
                                <a:latin typeface="Cambria Math" panose="02040503050406030204" pitchFamily="18" charset="0"/>
                              </a:rPr>
                              <m:t>(</m:t>
                            </m:r>
                            <m:r>
                              <m:rPr>
                                <m:sty m:val="p"/>
                              </m:rPr>
                              <a:rPr lang="en-US">
                                <a:latin typeface="Cambria Math" panose="02040503050406030204" pitchFamily="18" charset="0"/>
                              </a:rPr>
                              <m:t>i</m:t>
                            </m:r>
                            <m:r>
                              <a:rPr lang="en-US">
                                <a:latin typeface="Cambria Math" panose="02040503050406030204" pitchFamily="18" charset="0"/>
                              </a:rPr>
                              <m:t>)</m:t>
                            </m:r>
                          </m:sub>
                        </m:sSub>
                      </m:den>
                    </m:f>
                    <m:r>
                      <a:rPr lang="en-US" i="1">
                        <a:latin typeface="Cambria Math" panose="02040503050406030204" pitchFamily="18" charset="0"/>
                      </a:rPr>
                      <m:t> , </m:t>
                    </m:r>
                    <m:r>
                      <a:rPr lang="en-US" i="1">
                        <a:latin typeface="Cambria Math" panose="02040503050406030204" pitchFamily="18" charset="0"/>
                      </a:rPr>
                      <m:t>𝑁𝑜𝑡𝑒</m:t>
                    </m:r>
                    <m:r>
                      <a:rPr lang="en-US" i="1">
                        <a:latin typeface="Cambria Math" panose="02040503050406030204" pitchFamily="18" charset="0"/>
                      </a:rPr>
                      <m:t>: </m:t>
                    </m:r>
                    <m:sSub>
                      <m:sSubPr>
                        <m:ctrlPr>
                          <a:rPr lang="en-US" i="1">
                            <a:latin typeface="Cambria Math" panose="02040503050406030204" pitchFamily="18" charset="0"/>
                          </a:rPr>
                        </m:ctrlPr>
                      </m:sSubPr>
                      <m:e>
                        <m:r>
                          <a:rPr lang="en-US">
                            <a:latin typeface="Cambria Math" panose="02040503050406030204" pitchFamily="18" charset="0"/>
                          </a:rPr>
                          <m:t>∈</m:t>
                        </m:r>
                      </m:e>
                      <m:sub>
                        <m:r>
                          <m:rPr>
                            <m:sty m:val="p"/>
                          </m:rPr>
                          <a:rPr lang="en-US">
                            <a:latin typeface="Cambria Math" panose="02040503050406030204" pitchFamily="18" charset="0"/>
                          </a:rPr>
                          <m:t>S</m:t>
                        </m:r>
                      </m:sub>
                    </m:sSub>
                    <m:r>
                      <a:rPr lang="en-US" i="1">
                        <a:latin typeface="Cambria Math" panose="02040503050406030204" pitchFamily="18" charset="0"/>
                      </a:rPr>
                      <m:t> </m:t>
                    </m:r>
                    <m:r>
                      <a:rPr lang="en-US" i="1">
                        <a:latin typeface="Cambria Math" panose="02040503050406030204" pitchFamily="18" charset="0"/>
                      </a:rPr>
                      <m:t>𝑖𝑠</m:t>
                    </m:r>
                    <m:r>
                      <a:rPr lang="en-US" i="1">
                        <a:latin typeface="Cambria Math" panose="02040503050406030204" pitchFamily="18" charset="0"/>
                      </a:rPr>
                      <m:t> </m:t>
                    </m:r>
                    <m:r>
                      <a:rPr lang="en-US" i="1">
                        <a:latin typeface="Cambria Math" panose="02040503050406030204" pitchFamily="18" charset="0"/>
                      </a:rPr>
                      <m:t>𝑢𝑠𝑢𝑎𝑙𝑙𝑦</m:t>
                    </m:r>
                    <m:r>
                      <a:rPr lang="en-US" i="1">
                        <a:latin typeface="Cambria Math" panose="02040503050406030204" pitchFamily="18" charset="0"/>
                      </a:rPr>
                      <m:t> </m:t>
                    </m:r>
                    <m:r>
                      <a:rPr lang="en-US" i="1">
                        <a:latin typeface="Cambria Math" panose="02040503050406030204" pitchFamily="18" charset="0"/>
                      </a:rPr>
                      <m:t>𝑝𝑜𝑠𝑖𝑡𝑖𝑣𝑒</m:t>
                    </m:r>
                  </m:oMath>
                </a14:m>
                <a:endParaRPr lang="en-US" dirty="0"/>
              </a:p>
              <a:p>
                <a:endParaRPr lang="en-US" dirty="0"/>
              </a:p>
              <a:p>
                <a:r>
                  <a:rPr lang="en-US" dirty="0"/>
                  <a:t>Supply Intercept: 	                        c1(</a:t>
                </a:r>
                <a:r>
                  <a:rPr lang="en-US" dirty="0" err="1"/>
                  <a:t>i</a:t>
                </a:r>
                <a:r>
                  <a:rPr lang="en-US" dirty="0"/>
                  <a:t>)=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P</m:t>
                        </m:r>
                      </m:e>
                      <m:sub>
                        <m:r>
                          <m:rPr>
                            <m:sty m:val="p"/>
                          </m:rPr>
                          <a:rPr lang="en-US">
                            <a:latin typeface="Cambria Math" panose="02040503050406030204" pitchFamily="18" charset="0"/>
                          </a:rPr>
                          <m:t>avg</m:t>
                        </m:r>
                        <m:r>
                          <a:rPr lang="en-US">
                            <a:latin typeface="Cambria Math" panose="02040503050406030204" pitchFamily="18" charset="0"/>
                          </a:rPr>
                          <m:t>(</m:t>
                        </m:r>
                        <m:r>
                          <m:rPr>
                            <m:sty m:val="p"/>
                          </m:rPr>
                          <a:rPr lang="en-US">
                            <a:latin typeface="Cambria Math" panose="02040503050406030204" pitchFamily="18" charset="0"/>
                          </a:rPr>
                          <m:t>i</m:t>
                        </m:r>
                        <m:r>
                          <a:rPr lang="en-US">
                            <a:latin typeface="Cambria Math" panose="02040503050406030204" pitchFamily="18" charset="0"/>
                          </a:rPr>
                          <m:t>)</m:t>
                        </m:r>
                      </m:sub>
                    </m:sSub>
                  </m:oMath>
                </a14:m>
                <a:r>
                  <a:rPr lang="en-US" dirty="0"/>
                  <a:t> - d(</a:t>
                </a:r>
                <a:r>
                  <a:rPr lang="en-US" dirty="0" err="1"/>
                  <a:t>i</a:t>
                </a:r>
                <a:r>
                  <a:rPr lang="en-US" dirty="0"/>
                  <a:t>)*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Q</m:t>
                        </m:r>
                      </m:e>
                      <m:sub>
                        <m:r>
                          <m:rPr>
                            <m:sty m:val="p"/>
                          </m:rPr>
                          <a:rPr lang="en-US">
                            <a:latin typeface="Cambria Math" panose="02040503050406030204" pitchFamily="18" charset="0"/>
                          </a:rPr>
                          <m:t>avg</m:t>
                        </m:r>
                        <m:r>
                          <a:rPr lang="en-US">
                            <a:latin typeface="Cambria Math" panose="02040503050406030204" pitchFamily="18" charset="0"/>
                          </a:rPr>
                          <m:t>(</m:t>
                        </m:r>
                        <m:r>
                          <m:rPr>
                            <m:sty m:val="p"/>
                          </m:rPr>
                          <a:rPr lang="en-US">
                            <a:latin typeface="Cambria Math" panose="02040503050406030204" pitchFamily="18" charset="0"/>
                          </a:rPr>
                          <m:t>i</m:t>
                        </m:r>
                        <m:r>
                          <a:rPr lang="en-US">
                            <a:latin typeface="Cambria Math" panose="02040503050406030204" pitchFamily="18" charset="0"/>
                          </a:rPr>
                          <m:t>)</m:t>
                        </m:r>
                      </m:sub>
                    </m:sSub>
                  </m:oMath>
                </a14:m>
                <a:endParaRPr lang="en-US" dirty="0"/>
              </a:p>
              <a:p>
                <a:endParaRPr lang="en-US" dirty="0"/>
              </a:p>
              <a:p>
                <a:r>
                  <a:rPr lang="en-US" dirty="0"/>
                  <a:t>Region Demand Slope: </a:t>
                </a:r>
                <a14:m>
                  <m:oMath xmlns:m="http://schemas.openxmlformats.org/officeDocument/2006/math">
                    <m:r>
                      <a:rPr lang="en-US" b="0" i="0" smtClean="0">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b</m:t>
                        </m:r>
                      </m:e>
                      <m:sub>
                        <m:r>
                          <m:rPr>
                            <m:sty m:val="p"/>
                          </m:rPr>
                          <a:rPr lang="en-US">
                            <a:latin typeface="Cambria Math" panose="02040503050406030204" pitchFamily="18" charset="0"/>
                          </a:rPr>
                          <m:t>c</m:t>
                        </m:r>
                        <m:d>
                          <m:dPr>
                            <m:ctrlPr>
                              <a:rPr lang="en-US" i="1">
                                <a:latin typeface="Cambria Math" panose="02040503050406030204" pitchFamily="18" charset="0"/>
                              </a:rPr>
                            </m:ctrlPr>
                          </m:dPr>
                          <m:e>
                            <m:r>
                              <m:rPr>
                                <m:sty m:val="p"/>
                              </m:rPr>
                              <a:rPr lang="en-US">
                                <a:latin typeface="Cambria Math" panose="02040503050406030204" pitchFamily="18" charset="0"/>
                              </a:rPr>
                              <m:t>i</m:t>
                            </m:r>
                            <m:r>
                              <a:rPr lang="en-US">
                                <a:latin typeface="Cambria Math" panose="02040503050406030204" pitchFamily="18" charset="0"/>
                              </a:rPr>
                              <m:t>,</m:t>
                            </m:r>
                            <m:r>
                              <m:rPr>
                                <m:sty m:val="p"/>
                              </m:rPr>
                              <a:rPr lang="en-US">
                                <a:latin typeface="Cambria Math" panose="02040503050406030204" pitchFamily="18" charset="0"/>
                              </a:rPr>
                              <m:t>u</m:t>
                            </m:r>
                          </m:e>
                        </m:d>
                      </m:sub>
                    </m:sSub>
                    <m:r>
                      <a:rPr lang="en-US">
                        <a:latin typeface="Cambria Math" panose="02040503050406030204" pitchFamily="18" charset="0"/>
                      </a:rPr>
                      <m:t>= </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m:rPr>
                                <m:sty m:val="p"/>
                              </m:rPr>
                              <a:rPr lang="en-US">
                                <a:latin typeface="Cambria Math" panose="02040503050406030204" pitchFamily="18" charset="0"/>
                              </a:rPr>
                              <m:t>Elasticity</m:t>
                            </m:r>
                            <m:r>
                              <a:rPr lang="en-US">
                                <a:latin typeface="Cambria Math" panose="02040503050406030204" pitchFamily="18" charset="0"/>
                              </a:rPr>
                              <m:t> </m:t>
                            </m:r>
                          </m:e>
                          <m:sub>
                            <m:r>
                              <m:rPr>
                                <m:sty m:val="p"/>
                              </m:rPr>
                              <a:rPr lang="en-US">
                                <a:latin typeface="Cambria Math" panose="02040503050406030204" pitchFamily="18" charset="0"/>
                              </a:rPr>
                              <m:t>Dc</m:t>
                            </m:r>
                          </m:sub>
                        </m:sSub>
                        <m:r>
                          <a:rPr lang="en-US">
                            <a:latin typeface="Cambria Math" panose="02040503050406030204" pitchFamily="18" charset="0"/>
                          </a:rPr>
                          <m:t> </m:t>
                        </m:r>
                        <m:d>
                          <m:dPr>
                            <m:ctrlPr>
                              <a:rPr lang="en-US" i="1">
                                <a:latin typeface="Cambria Math" panose="02040503050406030204" pitchFamily="18" charset="0"/>
                              </a:rPr>
                            </m:ctrlPr>
                          </m:dPr>
                          <m:e>
                            <m:r>
                              <m:rPr>
                                <m:sty m:val="p"/>
                              </m:rPr>
                              <a:rPr lang="en-US">
                                <a:latin typeface="Cambria Math" panose="02040503050406030204" pitchFamily="18" charset="0"/>
                              </a:rPr>
                              <m:t>i</m:t>
                            </m:r>
                            <m:r>
                              <a:rPr lang="en-US">
                                <a:latin typeface="Cambria Math" panose="02040503050406030204" pitchFamily="18" charset="0"/>
                              </a:rPr>
                              <m:t>,</m:t>
                            </m:r>
                            <m:r>
                              <m:rPr>
                                <m:sty m:val="p"/>
                              </m:rPr>
                              <a:rPr lang="en-US">
                                <a:latin typeface="Cambria Math" panose="02040503050406030204" pitchFamily="18" charset="0"/>
                              </a:rPr>
                              <m:t>u</m:t>
                            </m:r>
                          </m:e>
                        </m:d>
                      </m:e>
                    </m:d>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m:rPr>
                                <m:sty m:val="p"/>
                              </m:rPr>
                              <a:rPr lang="en-US">
                                <a:latin typeface="Cambria Math" panose="02040503050406030204" pitchFamily="18" charset="0"/>
                              </a:rPr>
                              <m:t>P</m:t>
                            </m:r>
                          </m:e>
                          <m:sub>
                            <m:r>
                              <m:rPr>
                                <m:sty m:val="p"/>
                              </m:rPr>
                              <a:rPr lang="en-US">
                                <a:latin typeface="Cambria Math" panose="02040503050406030204" pitchFamily="18" charset="0"/>
                              </a:rPr>
                              <m:t>avg</m:t>
                            </m:r>
                            <m:d>
                              <m:dPr>
                                <m:ctrlPr>
                                  <a:rPr lang="en-US" i="1">
                                    <a:latin typeface="Cambria Math" panose="02040503050406030204" pitchFamily="18" charset="0"/>
                                  </a:rPr>
                                </m:ctrlPr>
                              </m:dPr>
                              <m:e>
                                <m:r>
                                  <m:rPr>
                                    <m:sty m:val="p"/>
                                  </m:rPr>
                                  <a:rPr lang="en-US">
                                    <a:latin typeface="Cambria Math" panose="02040503050406030204" pitchFamily="18" charset="0"/>
                                  </a:rPr>
                                  <m:t>i</m:t>
                                </m:r>
                                <m:r>
                                  <a:rPr lang="en-US">
                                    <a:latin typeface="Cambria Math" panose="02040503050406030204" pitchFamily="18" charset="0"/>
                                  </a:rPr>
                                  <m:t>,</m:t>
                                </m:r>
                                <m:r>
                                  <m:rPr>
                                    <m:sty m:val="p"/>
                                  </m:rPr>
                                  <a:rPr lang="en-US">
                                    <a:latin typeface="Cambria Math" panose="02040503050406030204" pitchFamily="18" charset="0"/>
                                  </a:rPr>
                                  <m:t>u</m:t>
                                </m:r>
                              </m:e>
                            </m:d>
                          </m:sub>
                        </m:sSub>
                      </m:num>
                      <m:den>
                        <m:sSub>
                          <m:sSubPr>
                            <m:ctrlPr>
                              <a:rPr lang="en-US" i="1">
                                <a:latin typeface="Cambria Math" panose="02040503050406030204" pitchFamily="18" charset="0"/>
                              </a:rPr>
                            </m:ctrlPr>
                          </m:sSubPr>
                          <m:e>
                            <m:r>
                              <m:rPr>
                                <m:sty m:val="p"/>
                              </m:rPr>
                              <a:rPr lang="en-US">
                                <a:latin typeface="Cambria Math" panose="02040503050406030204" pitchFamily="18" charset="0"/>
                              </a:rPr>
                              <m:t>Qc</m:t>
                            </m:r>
                          </m:e>
                          <m:sub>
                            <m:r>
                              <m:rPr>
                                <m:sty m:val="p"/>
                              </m:rPr>
                              <a:rPr lang="en-US">
                                <a:latin typeface="Cambria Math" panose="02040503050406030204" pitchFamily="18" charset="0"/>
                              </a:rPr>
                              <m:t>avg</m:t>
                            </m:r>
                            <m:d>
                              <m:dPr>
                                <m:ctrlPr>
                                  <a:rPr lang="en-US" i="1">
                                    <a:latin typeface="Cambria Math" panose="02040503050406030204" pitchFamily="18" charset="0"/>
                                  </a:rPr>
                                </m:ctrlPr>
                              </m:dPr>
                              <m:e>
                                <m:r>
                                  <m:rPr>
                                    <m:sty m:val="p"/>
                                  </m:rPr>
                                  <a:rPr lang="en-US">
                                    <a:latin typeface="Cambria Math" panose="02040503050406030204" pitchFamily="18" charset="0"/>
                                  </a:rPr>
                                  <m:t>i</m:t>
                                </m:r>
                                <m:r>
                                  <a:rPr lang="en-US">
                                    <a:latin typeface="Cambria Math" panose="02040503050406030204" pitchFamily="18" charset="0"/>
                                  </a:rPr>
                                  <m:t>,</m:t>
                                </m:r>
                                <m:r>
                                  <m:rPr>
                                    <m:sty m:val="p"/>
                                  </m:rPr>
                                  <a:rPr lang="en-US">
                                    <a:latin typeface="Cambria Math" panose="02040503050406030204" pitchFamily="18" charset="0"/>
                                  </a:rPr>
                                  <m:t>u</m:t>
                                </m:r>
                              </m:e>
                            </m:d>
                          </m:sub>
                        </m:sSub>
                      </m:den>
                    </m:f>
                    <m:r>
                      <a:rPr lang="en-US" i="1">
                        <a:latin typeface="Cambria Math" panose="02040503050406030204" pitchFamily="18" charset="0"/>
                      </a:rPr>
                      <m:t> , </m:t>
                    </m:r>
                    <m:r>
                      <a:rPr lang="en-US" i="1">
                        <a:latin typeface="Cambria Math" panose="02040503050406030204" pitchFamily="18" charset="0"/>
                      </a:rPr>
                      <m:t>𝑁𝑜𝑡𝑒</m:t>
                    </m:r>
                    <m:r>
                      <a:rPr lang="en-US" i="1">
                        <a:latin typeface="Cambria Math" panose="02040503050406030204" pitchFamily="18" charset="0"/>
                      </a:rPr>
                      <m:t>: </m:t>
                    </m:r>
                    <m:sSub>
                      <m:sSubPr>
                        <m:ctrlPr>
                          <a:rPr lang="en-US" i="1">
                            <a:latin typeface="Cambria Math" panose="02040503050406030204" pitchFamily="18" charset="0"/>
                          </a:rPr>
                        </m:ctrlPr>
                      </m:sSubPr>
                      <m:e>
                        <m:r>
                          <a:rPr lang="en-US">
                            <a:latin typeface="Cambria Math" panose="02040503050406030204" pitchFamily="18" charset="0"/>
                          </a:rPr>
                          <m:t>∈</m:t>
                        </m:r>
                      </m:e>
                      <m:sub>
                        <m:r>
                          <m:rPr>
                            <m:sty m:val="p"/>
                          </m:rPr>
                          <a:rPr lang="en-US">
                            <a:latin typeface="Cambria Math" panose="02040503050406030204" pitchFamily="18" charset="0"/>
                          </a:rPr>
                          <m:t>D</m:t>
                        </m:r>
                      </m:sub>
                    </m:sSub>
                    <m:r>
                      <a:rPr lang="en-US" i="1">
                        <a:latin typeface="Cambria Math" panose="02040503050406030204" pitchFamily="18" charset="0"/>
                      </a:rPr>
                      <m:t> </m:t>
                    </m:r>
                    <m:r>
                      <a:rPr lang="en-US" i="1">
                        <a:latin typeface="Cambria Math" panose="02040503050406030204" pitchFamily="18" charset="0"/>
                      </a:rPr>
                      <m:t>𝑖𝑠</m:t>
                    </m:r>
                    <m:r>
                      <a:rPr lang="en-US" i="1">
                        <a:latin typeface="Cambria Math" panose="02040503050406030204" pitchFamily="18" charset="0"/>
                      </a:rPr>
                      <m:t> </m:t>
                    </m:r>
                    <m:r>
                      <a:rPr lang="en-US" i="1">
                        <a:latin typeface="Cambria Math" panose="02040503050406030204" pitchFamily="18" charset="0"/>
                      </a:rPr>
                      <m:t>𝑢𝑠𝑢𝑎𝑙𝑙𝑦</m:t>
                    </m:r>
                    <m:r>
                      <a:rPr lang="en-US" i="1">
                        <a:latin typeface="Cambria Math" panose="02040503050406030204" pitchFamily="18" charset="0"/>
                      </a:rPr>
                      <m:t> </m:t>
                    </m:r>
                    <m:r>
                      <a:rPr lang="en-US" i="1">
                        <a:latin typeface="Cambria Math" panose="02040503050406030204" pitchFamily="18" charset="0"/>
                      </a:rPr>
                      <m:t>𝑛𝑒𝑔𝑎𝑡𝑖𝑣𝑒</m:t>
                    </m:r>
                  </m:oMath>
                </a14:m>
                <a:endParaRPr lang="en-US" dirty="0"/>
              </a:p>
              <a:p>
                <a:endParaRPr lang="en-US" dirty="0"/>
              </a:p>
              <a:p>
                <a:r>
                  <a:rPr lang="en-US" dirty="0"/>
                  <a:t>Region Demand Intercept:         </a:t>
                </a:r>
                <a:r>
                  <a:rPr lang="pl-PL" dirty="0"/>
                  <a:t>a_c(i,u)= </a:t>
                </a:r>
                <a14:m>
                  <m:oMath xmlns:m="http://schemas.openxmlformats.org/officeDocument/2006/math">
                    <m:sSub>
                      <m:sSubPr>
                        <m:ctrlPr>
                          <a:rPr lang="en-US" i="1">
                            <a:latin typeface="Cambria Math" panose="02040503050406030204" pitchFamily="18" charset="0"/>
                          </a:rPr>
                        </m:ctrlPr>
                      </m:sSubPr>
                      <m:e>
                        <m:r>
                          <m:rPr>
                            <m:sty m:val="p"/>
                          </m:rPr>
                          <a:rPr lang="pl-PL">
                            <a:latin typeface="Cambria Math" panose="02040503050406030204" pitchFamily="18" charset="0"/>
                          </a:rPr>
                          <m:t>Pc</m:t>
                        </m:r>
                      </m:e>
                      <m:sub>
                        <m:r>
                          <m:rPr>
                            <m:sty m:val="p"/>
                          </m:rPr>
                          <a:rPr lang="pl-PL">
                            <a:latin typeface="Cambria Math" panose="02040503050406030204" pitchFamily="18" charset="0"/>
                          </a:rPr>
                          <m:t>avg</m:t>
                        </m:r>
                        <m:r>
                          <a:rPr lang="pl-PL">
                            <a:latin typeface="Cambria Math" panose="02040503050406030204" pitchFamily="18" charset="0"/>
                          </a:rPr>
                          <m:t>(</m:t>
                        </m:r>
                        <m:r>
                          <m:rPr>
                            <m:sty m:val="p"/>
                          </m:rPr>
                          <a:rPr lang="pl-PL">
                            <a:latin typeface="Cambria Math" panose="02040503050406030204" pitchFamily="18" charset="0"/>
                          </a:rPr>
                          <m:t>i</m:t>
                        </m:r>
                        <m:r>
                          <a:rPr lang="pl-PL">
                            <a:latin typeface="Cambria Math" panose="02040503050406030204" pitchFamily="18" charset="0"/>
                          </a:rPr>
                          <m:t>,</m:t>
                        </m:r>
                        <m:r>
                          <m:rPr>
                            <m:sty m:val="p"/>
                          </m:rPr>
                          <a:rPr lang="pl-PL">
                            <a:latin typeface="Cambria Math" panose="02040503050406030204" pitchFamily="18" charset="0"/>
                          </a:rPr>
                          <m:t>u</m:t>
                        </m:r>
                        <m:r>
                          <a:rPr lang="pl-PL">
                            <a:latin typeface="Cambria Math" panose="02040503050406030204" pitchFamily="18" charset="0"/>
                          </a:rPr>
                          <m:t>)</m:t>
                        </m:r>
                      </m:sub>
                    </m:sSub>
                  </m:oMath>
                </a14:m>
                <a:r>
                  <a:rPr lang="pl-PL" dirty="0"/>
                  <a:t> + b_c(i,u)* </a:t>
                </a:r>
                <a14:m>
                  <m:oMath xmlns:m="http://schemas.openxmlformats.org/officeDocument/2006/math">
                    <m:sSub>
                      <m:sSubPr>
                        <m:ctrlPr>
                          <a:rPr lang="en-US" i="1">
                            <a:latin typeface="Cambria Math" panose="02040503050406030204" pitchFamily="18" charset="0"/>
                          </a:rPr>
                        </m:ctrlPr>
                      </m:sSubPr>
                      <m:e>
                        <m:r>
                          <m:rPr>
                            <m:sty m:val="p"/>
                          </m:rPr>
                          <a:rPr lang="pl-PL">
                            <a:latin typeface="Cambria Math" panose="02040503050406030204" pitchFamily="18" charset="0"/>
                          </a:rPr>
                          <m:t>Qc</m:t>
                        </m:r>
                      </m:e>
                      <m:sub>
                        <m:r>
                          <m:rPr>
                            <m:sty m:val="p"/>
                          </m:rPr>
                          <a:rPr lang="pl-PL">
                            <a:latin typeface="Cambria Math" panose="02040503050406030204" pitchFamily="18" charset="0"/>
                          </a:rPr>
                          <m:t>avg</m:t>
                        </m:r>
                        <m:r>
                          <a:rPr lang="pl-PL">
                            <a:latin typeface="Cambria Math" panose="02040503050406030204" pitchFamily="18" charset="0"/>
                          </a:rPr>
                          <m:t>(</m:t>
                        </m:r>
                        <m:r>
                          <m:rPr>
                            <m:sty m:val="p"/>
                          </m:rPr>
                          <a:rPr lang="pl-PL">
                            <a:latin typeface="Cambria Math" panose="02040503050406030204" pitchFamily="18" charset="0"/>
                          </a:rPr>
                          <m:t>i</m:t>
                        </m:r>
                        <m:r>
                          <a:rPr lang="pl-PL">
                            <a:latin typeface="Cambria Math" panose="02040503050406030204" pitchFamily="18" charset="0"/>
                          </a:rPr>
                          <m:t>,</m:t>
                        </m:r>
                        <m:r>
                          <m:rPr>
                            <m:sty m:val="p"/>
                          </m:rPr>
                          <a:rPr lang="pl-PL">
                            <a:latin typeface="Cambria Math" panose="02040503050406030204" pitchFamily="18" charset="0"/>
                          </a:rPr>
                          <m:t>u</m:t>
                        </m:r>
                        <m:r>
                          <a:rPr lang="pl-PL">
                            <a:latin typeface="Cambria Math" panose="02040503050406030204" pitchFamily="18" charset="0"/>
                          </a:rPr>
                          <m:t>)</m:t>
                        </m:r>
                      </m:sub>
                    </m:sSub>
                  </m:oMath>
                </a14:m>
                <a:endParaRPr lang="en-US" dirty="0"/>
              </a:p>
            </p:txBody>
          </p:sp>
        </mc:Choice>
        <mc:Fallback xmlns="">
          <p:sp>
            <p:nvSpPr>
              <p:cNvPr id="2" name="TextBox 1">
                <a:extLst>
                  <a:ext uri="{FF2B5EF4-FFF2-40B4-BE49-F238E27FC236}">
                    <a16:creationId xmlns:a16="http://schemas.microsoft.com/office/drawing/2014/main" id="{C1276BBA-5B83-AD63-F177-D6F00DD96346}"/>
                  </a:ext>
                </a:extLst>
              </p:cNvPr>
              <p:cNvSpPr txBox="1">
                <a:spLocks noRot="1" noChangeAspect="1" noMove="1" noResize="1" noEditPoints="1" noAdjustHandles="1" noChangeArrowheads="1" noChangeShapeType="1" noTextEdit="1"/>
              </p:cNvSpPr>
              <p:nvPr/>
            </p:nvSpPr>
            <p:spPr>
              <a:xfrm>
                <a:off x="-4788" y="354644"/>
                <a:ext cx="12179433" cy="6523709"/>
              </a:xfrm>
              <a:prstGeom prst="rect">
                <a:avLst/>
              </a:prstGeom>
              <a:blipFill>
                <a:blip r:embed="rId3"/>
                <a:stretch>
                  <a:fillRect l="-400" b="-280"/>
                </a:stretch>
              </a:blipFill>
            </p:spPr>
            <p:txBody>
              <a:bodyPr/>
              <a:lstStyle/>
              <a:p>
                <a:r>
                  <a:rPr lang="en-US">
                    <a:noFill/>
                  </a:rPr>
                  <a:t> </a:t>
                </a:r>
              </a:p>
            </p:txBody>
          </p:sp>
        </mc:Fallback>
      </mc:AlternateContent>
    </p:spTree>
    <p:extLst>
      <p:ext uri="{BB962C8B-B14F-4D97-AF65-F5344CB8AC3E}">
        <p14:creationId xmlns:p14="http://schemas.microsoft.com/office/powerpoint/2010/main" val="180134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E3F1D-0E3F-8335-22D2-00D62D0063F8}"/>
            </a:ext>
          </a:extLst>
        </p:cNvPr>
        <p:cNvGrpSpPr/>
        <p:nvPr/>
      </p:nvGrpSpPr>
      <p:grpSpPr>
        <a:xfrm>
          <a:off x="0" y="0"/>
          <a:ext cx="0" cy="0"/>
          <a:chOff x="0" y="0"/>
          <a:chExt cx="0" cy="0"/>
        </a:xfrm>
      </p:grpSpPr>
      <p:sp>
        <p:nvSpPr>
          <p:cNvPr id="4" name="AutoShape 7">
            <a:extLst>
              <a:ext uri="{FF2B5EF4-FFF2-40B4-BE49-F238E27FC236}">
                <a16:creationId xmlns:a16="http://schemas.microsoft.com/office/drawing/2014/main" id="{C2CE1188-317E-6B06-2BA9-A52465DB02A7}"/>
              </a:ext>
            </a:extLst>
          </p:cNvPr>
          <p:cNvSpPr/>
          <p:nvPr/>
        </p:nvSpPr>
        <p:spPr>
          <a:xfrm>
            <a:off x="64169" y="373874"/>
            <a:ext cx="11839074" cy="0"/>
          </a:xfrm>
          <a:prstGeom prst="line">
            <a:avLst/>
          </a:prstGeom>
          <a:ln w="28575" cap="flat">
            <a:solidFill>
              <a:srgbClr val="D1D5D9"/>
            </a:solidFill>
            <a:prstDash val="solid"/>
            <a:headEnd type="none" w="sm" len="sm"/>
            <a:tailEnd type="none" w="sm" len="sm"/>
          </a:ln>
        </p:spPr>
        <p:txBody>
          <a:bodyPr/>
          <a:lstStyle/>
          <a:p>
            <a:endParaRPr lang="en-US" sz="1200"/>
          </a:p>
        </p:txBody>
      </p:sp>
      <p:sp>
        <p:nvSpPr>
          <p:cNvPr id="6" name="TextBox 5">
            <a:extLst>
              <a:ext uri="{FF2B5EF4-FFF2-40B4-BE49-F238E27FC236}">
                <a16:creationId xmlns:a16="http://schemas.microsoft.com/office/drawing/2014/main" id="{94D100F3-4184-6AB1-45EC-ACE3EBC5ADC5}"/>
              </a:ext>
            </a:extLst>
          </p:cNvPr>
          <p:cNvSpPr txBox="1"/>
          <p:nvPr/>
        </p:nvSpPr>
        <p:spPr>
          <a:xfrm>
            <a:off x="48127" y="-48126"/>
            <a:ext cx="9881937" cy="461665"/>
          </a:xfrm>
          <a:prstGeom prst="rect">
            <a:avLst/>
          </a:prstGeom>
          <a:noFill/>
        </p:spPr>
        <p:txBody>
          <a:bodyPr wrap="square">
            <a:spAutoFit/>
          </a:bodyPr>
          <a:lstStyle/>
          <a:p>
            <a:r>
              <a:rPr lang="en-US" sz="2400" b="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Model Formulation- Continued</a:t>
            </a:r>
            <a:endParaRPr lang="en-US" sz="2400" b="1" dirty="0">
              <a:solidFill>
                <a:schemeClr val="accent1"/>
              </a:solidFill>
            </a:endParaRPr>
          </a:p>
        </p:txBody>
      </p:sp>
      <p:grpSp>
        <p:nvGrpSpPr>
          <p:cNvPr id="15" name="Group 14">
            <a:extLst>
              <a:ext uri="{FF2B5EF4-FFF2-40B4-BE49-F238E27FC236}">
                <a16:creationId xmlns:a16="http://schemas.microsoft.com/office/drawing/2014/main" id="{96838B41-5247-F9ED-7433-55F957BA59D5}"/>
              </a:ext>
            </a:extLst>
          </p:cNvPr>
          <p:cNvGrpSpPr/>
          <p:nvPr/>
        </p:nvGrpSpPr>
        <p:grpSpPr>
          <a:xfrm>
            <a:off x="1962150" y="1266825"/>
            <a:ext cx="8210550" cy="4638675"/>
            <a:chOff x="1962150" y="1266825"/>
            <a:chExt cx="8210550" cy="4638675"/>
          </a:xfrm>
        </p:grpSpPr>
        <p:sp>
          <p:nvSpPr>
            <p:cNvPr id="7" name="Oval 6">
              <a:extLst>
                <a:ext uri="{FF2B5EF4-FFF2-40B4-BE49-F238E27FC236}">
                  <a16:creationId xmlns:a16="http://schemas.microsoft.com/office/drawing/2014/main" id="{5AB9622C-4966-8FA4-EACE-56554D8D6C33}"/>
                </a:ext>
              </a:extLst>
            </p:cNvPr>
            <p:cNvSpPr/>
            <p:nvPr/>
          </p:nvSpPr>
          <p:spPr>
            <a:xfrm>
              <a:off x="3429000" y="3124200"/>
              <a:ext cx="3543300" cy="2781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06C1DCB-7657-C7AB-9915-9DD0ABE7227B}"/>
                </a:ext>
              </a:extLst>
            </p:cNvPr>
            <p:cNvSpPr/>
            <p:nvPr/>
          </p:nvSpPr>
          <p:spPr>
            <a:xfrm>
              <a:off x="1962150" y="1266825"/>
              <a:ext cx="3543300" cy="27813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509E22A1-E195-75E4-DE67-56C4A6276B8B}"/>
                </a:ext>
              </a:extLst>
            </p:cNvPr>
            <p:cNvSpPr/>
            <p:nvPr/>
          </p:nvSpPr>
          <p:spPr>
            <a:xfrm>
              <a:off x="6267450" y="2190750"/>
              <a:ext cx="3543300" cy="2781300"/>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670AD7A-9219-8DD3-1E31-80A6C5BACC8F}"/>
                </a:ext>
              </a:extLst>
            </p:cNvPr>
            <p:cNvSpPr txBox="1"/>
            <p:nvPr/>
          </p:nvSpPr>
          <p:spPr>
            <a:xfrm>
              <a:off x="2971800" y="1982450"/>
              <a:ext cx="1943100" cy="1446550"/>
            </a:xfrm>
            <a:prstGeom prst="rect">
              <a:avLst/>
            </a:prstGeom>
            <a:noFill/>
          </p:spPr>
          <p:txBody>
            <a:bodyPr wrap="square" rtlCol="0">
              <a:spAutoFit/>
            </a:bodyPr>
            <a:lstStyle/>
            <a:p>
              <a:r>
                <a:rPr lang="en-US" sz="8800" dirty="0">
                  <a:solidFill>
                    <a:schemeClr val="bg1"/>
                  </a:solidFill>
                </a:rPr>
                <a:t>LP </a:t>
              </a:r>
            </a:p>
          </p:txBody>
        </p:sp>
        <p:sp>
          <p:nvSpPr>
            <p:cNvPr id="13" name="TextBox 12">
              <a:extLst>
                <a:ext uri="{FF2B5EF4-FFF2-40B4-BE49-F238E27FC236}">
                  <a16:creationId xmlns:a16="http://schemas.microsoft.com/office/drawing/2014/main" id="{B9449A3F-B912-4CD8-74C7-745CC1B1E8F3}"/>
                </a:ext>
              </a:extLst>
            </p:cNvPr>
            <p:cNvSpPr txBox="1"/>
            <p:nvPr/>
          </p:nvSpPr>
          <p:spPr>
            <a:xfrm>
              <a:off x="3943350" y="3934763"/>
              <a:ext cx="3200400" cy="1446550"/>
            </a:xfrm>
            <a:prstGeom prst="rect">
              <a:avLst/>
            </a:prstGeom>
            <a:noFill/>
          </p:spPr>
          <p:txBody>
            <a:bodyPr wrap="square" rtlCol="0">
              <a:spAutoFit/>
            </a:bodyPr>
            <a:lstStyle/>
            <a:p>
              <a:r>
                <a:rPr lang="en-US" sz="8800" dirty="0">
                  <a:solidFill>
                    <a:schemeClr val="bg1"/>
                  </a:solidFill>
                </a:rPr>
                <a:t>MCP</a:t>
              </a:r>
            </a:p>
          </p:txBody>
        </p:sp>
        <p:sp>
          <p:nvSpPr>
            <p:cNvPr id="14" name="TextBox 13">
              <a:extLst>
                <a:ext uri="{FF2B5EF4-FFF2-40B4-BE49-F238E27FC236}">
                  <a16:creationId xmlns:a16="http://schemas.microsoft.com/office/drawing/2014/main" id="{E4A88DCA-A9C3-ADBE-6024-0630F0691991}"/>
                </a:ext>
              </a:extLst>
            </p:cNvPr>
            <p:cNvSpPr txBox="1"/>
            <p:nvPr/>
          </p:nvSpPr>
          <p:spPr>
            <a:xfrm>
              <a:off x="6972300" y="2915275"/>
              <a:ext cx="3200400" cy="1446550"/>
            </a:xfrm>
            <a:prstGeom prst="rect">
              <a:avLst/>
            </a:prstGeom>
            <a:noFill/>
          </p:spPr>
          <p:txBody>
            <a:bodyPr wrap="square" rtlCol="0">
              <a:spAutoFit/>
            </a:bodyPr>
            <a:lstStyle/>
            <a:p>
              <a:r>
                <a:rPr lang="en-US" sz="8800" dirty="0">
                  <a:solidFill>
                    <a:schemeClr val="bg1"/>
                  </a:solidFill>
                </a:rPr>
                <a:t>NLP </a:t>
              </a:r>
            </a:p>
          </p:txBody>
        </p:sp>
      </p:grpSp>
    </p:spTree>
    <p:extLst>
      <p:ext uri="{BB962C8B-B14F-4D97-AF65-F5344CB8AC3E}">
        <p14:creationId xmlns:p14="http://schemas.microsoft.com/office/powerpoint/2010/main" val="2979937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1AC01-1DB5-7F13-F899-BF5A04A723F4}"/>
            </a:ext>
          </a:extLst>
        </p:cNvPr>
        <p:cNvGrpSpPr/>
        <p:nvPr/>
      </p:nvGrpSpPr>
      <p:grpSpPr>
        <a:xfrm>
          <a:off x="0" y="0"/>
          <a:ext cx="0" cy="0"/>
          <a:chOff x="0" y="0"/>
          <a:chExt cx="0" cy="0"/>
        </a:xfrm>
      </p:grpSpPr>
      <p:sp>
        <p:nvSpPr>
          <p:cNvPr id="4" name="AutoShape 7">
            <a:extLst>
              <a:ext uri="{FF2B5EF4-FFF2-40B4-BE49-F238E27FC236}">
                <a16:creationId xmlns:a16="http://schemas.microsoft.com/office/drawing/2014/main" id="{7F301E99-19F9-0A43-2B68-57CFF305021A}"/>
              </a:ext>
            </a:extLst>
          </p:cNvPr>
          <p:cNvSpPr/>
          <p:nvPr/>
        </p:nvSpPr>
        <p:spPr>
          <a:xfrm>
            <a:off x="64169" y="373874"/>
            <a:ext cx="11839074" cy="0"/>
          </a:xfrm>
          <a:prstGeom prst="line">
            <a:avLst/>
          </a:prstGeom>
          <a:ln w="28575" cap="flat">
            <a:solidFill>
              <a:srgbClr val="D1D5D9"/>
            </a:solidFill>
            <a:prstDash val="solid"/>
            <a:headEnd type="none" w="sm" len="sm"/>
            <a:tailEnd type="none" w="sm" len="sm"/>
          </a:ln>
        </p:spPr>
        <p:txBody>
          <a:bodyPr/>
          <a:lstStyle/>
          <a:p>
            <a:endParaRPr lang="en-US" sz="1200"/>
          </a:p>
        </p:txBody>
      </p:sp>
      <p:sp>
        <p:nvSpPr>
          <p:cNvPr id="6" name="TextBox 5">
            <a:extLst>
              <a:ext uri="{FF2B5EF4-FFF2-40B4-BE49-F238E27FC236}">
                <a16:creationId xmlns:a16="http://schemas.microsoft.com/office/drawing/2014/main" id="{47A6B61F-22B3-1C1A-3EC0-583497D0E91D}"/>
              </a:ext>
            </a:extLst>
          </p:cNvPr>
          <p:cNvSpPr txBox="1"/>
          <p:nvPr/>
        </p:nvSpPr>
        <p:spPr>
          <a:xfrm>
            <a:off x="48127" y="-48126"/>
            <a:ext cx="9881937" cy="461665"/>
          </a:xfrm>
          <a:prstGeom prst="rect">
            <a:avLst/>
          </a:prstGeom>
          <a:noFill/>
        </p:spPr>
        <p:txBody>
          <a:bodyPr wrap="square">
            <a:spAutoFit/>
          </a:bodyPr>
          <a:lstStyle/>
          <a:p>
            <a:r>
              <a:rPr lang="en-US" sz="2400" b="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Model Formulation- Continued</a:t>
            </a:r>
            <a:endParaRPr lang="en-US" sz="2400" b="1" dirty="0">
              <a:solidFill>
                <a:schemeClr val="accent1"/>
              </a:solidFill>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CF5D5F4-100E-FAA4-0BBF-C60CD54FA262}"/>
                  </a:ext>
                </a:extLst>
              </p:cNvPr>
              <p:cNvSpPr txBox="1"/>
              <p:nvPr/>
            </p:nvSpPr>
            <p:spPr>
              <a:xfrm>
                <a:off x="26069" y="565939"/>
                <a:ext cx="5688931" cy="3864969"/>
              </a:xfrm>
              <a:prstGeom prst="rect">
                <a:avLst/>
              </a:prstGeom>
              <a:solidFill>
                <a:schemeClr val="bg1"/>
              </a:solidFill>
              <a:ln>
                <a:solidFill>
                  <a:schemeClr val="accent2"/>
                </a:solidFill>
              </a:ln>
            </p:spPr>
            <p:txBody>
              <a:bodyPr wrap="square">
                <a:spAutoFit/>
              </a:bodyPr>
              <a:lstStyle/>
              <a:p>
                <a:pPr marL="0" marR="0">
                  <a:lnSpc>
                    <a:spcPct val="115000"/>
                  </a:lnSpc>
                  <a:spcAft>
                    <a:spcPts val="800"/>
                  </a:spcAft>
                  <a:buNone/>
                </a:pPr>
                <a:r>
                  <a:rPr lang="en-US" sz="2000" b="1" kern="100" dirty="0">
                    <a:solidFill>
                      <a:schemeClr val="tx1"/>
                    </a:solidFill>
                    <a:effectLst/>
                    <a:latin typeface="Times New Roman" panose="02020603050405020304" pitchFamily="18" charset="0"/>
                    <a:ea typeface="Aptos" panose="020B0004020202020204" pitchFamily="34" charset="0"/>
                    <a:cs typeface="Arial" panose="020B0604020202020204" pitchFamily="34" charset="0"/>
                  </a:rPr>
                  <a:t>LP </a:t>
                </a:r>
                <a:r>
                  <a:rPr lang="en-US" sz="2000" kern="100" dirty="0">
                    <a:latin typeface="Times New Roman" panose="02020603050405020304" pitchFamily="18" charset="0"/>
                    <a:cs typeface="Arial" panose="020B0604020202020204" pitchFamily="34" charset="0"/>
                  </a:rPr>
                  <a:t>Objective: Profit Maximization Function</a:t>
                </a:r>
              </a:p>
              <a:p>
                <a:pPr>
                  <a:lnSpc>
                    <a:spcPct val="115000"/>
                  </a:lnSpc>
                  <a:spcAft>
                    <a:spcPts val="800"/>
                  </a:spcAft>
                </a:pPr>
                <a:r>
                  <a:rPr lang="en-US" sz="2000" kern="100" dirty="0">
                    <a:latin typeface="Times New Roman" panose="02020603050405020304" pitchFamily="18" charset="0"/>
                    <a:cs typeface="Arial" panose="020B0604020202020204" pitchFamily="34" charset="0"/>
                  </a:rPr>
                  <a:t>max</a:t>
                </a:r>
                <a14:m>
                  <m:oMath xmlns:m="http://schemas.openxmlformats.org/officeDocument/2006/math">
                    <m:r>
                      <a:rPr lang="en-US" sz="2000" kern="100">
                        <a:latin typeface="Cambria Math" panose="02040503050406030204" pitchFamily="18" charset="0"/>
                      </a:rPr>
                      <m:t> </m:t>
                    </m:r>
                    <m:r>
                      <a:rPr lang="en-US" sz="2000" kern="100">
                        <a:latin typeface="Cambria Math" panose="02040503050406030204" pitchFamily="18" charset="0"/>
                      </a:rPr>
                      <m:t>𝜋</m:t>
                    </m:r>
                  </m:oMath>
                </a14:m>
                <a:r>
                  <a:rPr lang="en-US" sz="2000" kern="100" dirty="0">
                    <a:latin typeface="Times New Roman" panose="02020603050405020304" pitchFamily="18" charset="0"/>
                    <a:cs typeface="Arial" panose="020B0604020202020204" pitchFamily="34" charset="0"/>
                  </a:rPr>
                  <a:t> = </a:t>
                </a:r>
                <a14:m>
                  <m:oMath xmlns:m="http://schemas.openxmlformats.org/officeDocument/2006/math">
                    <m:nary>
                      <m:naryPr>
                        <m:chr m:val="∑"/>
                        <m:subHide m:val="on"/>
                        <m:supHide m:val="on"/>
                        <m:ctrlPr>
                          <a:rPr lang="en-US" sz="2000" i="1" kern="100">
                            <a:latin typeface="Cambria Math" panose="02040503050406030204" pitchFamily="18" charset="0"/>
                          </a:rPr>
                        </m:ctrlPr>
                      </m:naryPr>
                      <m:sub/>
                      <m:sup/>
                      <m:e>
                        <m:r>
                          <a:rPr lang="en-US" sz="2000" kern="100">
                            <a:latin typeface="Cambria Math" panose="02040503050406030204" pitchFamily="18" charset="0"/>
                          </a:rPr>
                          <m:t>(</m:t>
                        </m:r>
                        <m:r>
                          <m:rPr>
                            <m:sty m:val="p"/>
                          </m:rPr>
                          <a:rPr lang="en-US" sz="2000" kern="100">
                            <a:latin typeface="Cambria Math" panose="02040503050406030204" pitchFamily="18" charset="0"/>
                          </a:rPr>
                          <m:t>Pavg</m:t>
                        </m:r>
                        <m:r>
                          <a:rPr lang="en-US" sz="2000" kern="100">
                            <a:latin typeface="Cambria Math" panose="02040503050406030204" pitchFamily="18" charset="0"/>
                          </a:rPr>
                          <m:t>,</m:t>
                        </m:r>
                        <m:r>
                          <m:rPr>
                            <m:sty m:val="p"/>
                          </m:rPr>
                          <a:rPr lang="en-US" sz="2000" kern="100">
                            <a:latin typeface="Cambria Math" panose="02040503050406030204" pitchFamily="18" charset="0"/>
                          </a:rPr>
                          <m:t>i</m:t>
                        </m:r>
                      </m:e>
                    </m:nary>
                  </m:oMath>
                </a14:m>
                <a:r>
                  <a:rPr lang="en-US" sz="2000" kern="100" dirty="0">
                    <a:latin typeface="Times New Roman" panose="02020603050405020304" pitchFamily="18" charset="0"/>
                    <a:cs typeface="Arial" panose="020B0604020202020204" pitchFamily="34" charset="0"/>
                  </a:rPr>
                  <a:t> * Qi) – </a:t>
                </a:r>
                <a:r>
                  <a:rPr lang="en-US" sz="2000" kern="100" dirty="0" err="1">
                    <a:latin typeface="Times New Roman" panose="02020603050405020304" pitchFamily="18" charset="0"/>
                    <a:cs typeface="Arial" panose="020B0604020202020204" pitchFamily="34" charset="0"/>
                  </a:rPr>
                  <a:t>Wavg</a:t>
                </a:r>
                <a:r>
                  <a:rPr lang="en-US" sz="2000" kern="100" dirty="0">
                    <a:latin typeface="Times New Roman" panose="02020603050405020304" pitchFamily="18" charset="0"/>
                    <a:cs typeface="Arial" panose="020B0604020202020204" pitchFamily="34" charset="0"/>
                  </a:rPr>
                  <a:t> K - C0</a:t>
                </a:r>
                <a:endParaRPr lang="en-US" sz="2000" b="1" kern="100" dirty="0">
                  <a:solidFill>
                    <a:schemeClr val="tx1"/>
                  </a:solidFill>
                  <a:effectLst/>
                  <a:latin typeface="Times New Roman" panose="02020603050405020304" pitchFamily="18" charset="0"/>
                  <a:ea typeface="Aptos" panose="020B0004020202020204" pitchFamily="34" charset="0"/>
                  <a:cs typeface="Arial" panose="020B0604020202020204" pitchFamily="34" charset="0"/>
                </a:endParaRPr>
              </a:p>
              <a:p>
                <a:pPr marL="0" marR="0">
                  <a:lnSpc>
                    <a:spcPct val="115000"/>
                  </a:lnSpc>
                  <a:spcAft>
                    <a:spcPts val="800"/>
                  </a:spcAft>
                  <a:buNone/>
                </a:pPr>
                <a:r>
                  <a:rPr lang="en-US" sz="2000" kern="100" dirty="0">
                    <a:solidFill>
                      <a:schemeClr val="tx1"/>
                    </a:solidFill>
                    <a:effectLst/>
                    <a:latin typeface="Times New Roman" panose="02020603050405020304" pitchFamily="18" charset="0"/>
                    <a:ea typeface="Aptos" panose="020B0004020202020204" pitchFamily="34" charset="0"/>
                    <a:cs typeface="Arial" panose="020B0604020202020204" pitchFamily="34" charset="0"/>
                  </a:rPr>
                  <a:t>Decision Variables: </a:t>
                </a:r>
              </a:p>
              <a:p>
                <a:pPr marL="0" marR="0">
                  <a:lnSpc>
                    <a:spcPct val="115000"/>
                  </a:lnSpc>
                  <a:spcAft>
                    <a:spcPts val="800"/>
                  </a:spcAft>
                  <a:buNone/>
                </a:pPr>
                <a:r>
                  <a:rPr lang="en-US" sz="2000" kern="100" dirty="0">
                    <a:solidFill>
                      <a:schemeClr val="tx1"/>
                    </a:solidFill>
                    <a:effectLst/>
                    <a:latin typeface="Times New Roman" panose="02020603050405020304" pitchFamily="18" charset="0"/>
                    <a:ea typeface="Aptos" panose="020B0004020202020204" pitchFamily="34" charset="0"/>
                    <a:cs typeface="Arial" panose="020B0604020202020204" pitchFamily="34" charset="0"/>
                  </a:rPr>
                  <a:t>Qi: quantity produced of each product. &amp;  K: Total refinery throughput</a:t>
                </a:r>
              </a:p>
              <a:p>
                <a:pPr lvl="0">
                  <a:lnSpc>
                    <a:spcPct val="115000"/>
                  </a:lnSpc>
                  <a:spcAft>
                    <a:spcPts val="800"/>
                  </a:spcAft>
                </a:pPr>
                <a:r>
                  <a:rPr lang="en-US" sz="2000" kern="100" dirty="0">
                    <a:solidFill>
                      <a:schemeClr val="tx1"/>
                    </a:solidFill>
                    <a:latin typeface="Times New Roman" panose="02020603050405020304" pitchFamily="18" charset="0"/>
                    <a:cs typeface="Arial" panose="020B0604020202020204" pitchFamily="34" charset="0"/>
                  </a:rPr>
                  <a:t>Constraints:</a:t>
                </a:r>
              </a:p>
              <a:p>
                <a:pPr>
                  <a:lnSpc>
                    <a:spcPct val="115000"/>
                  </a:lnSpc>
                  <a:spcAft>
                    <a:spcPts val="800"/>
                  </a:spcAft>
                </a:pPr>
                <a:r>
                  <a:rPr lang="en-US" sz="2000" kern="100" dirty="0">
                    <a:solidFill>
                      <a:schemeClr val="tx1"/>
                    </a:solidFill>
                    <a:latin typeface="Times New Roman" panose="02020603050405020304" pitchFamily="18" charset="0"/>
                    <a:cs typeface="Arial" panose="020B0604020202020204" pitchFamily="34" charset="0"/>
                  </a:rPr>
                  <a:t>Throughput limitation:  </a:t>
                </a:r>
                <a14:m>
                  <m:oMath xmlns:m="http://schemas.openxmlformats.org/officeDocument/2006/math">
                    <m:r>
                      <a:rPr lang="en-US" sz="2000" kern="100">
                        <a:solidFill>
                          <a:schemeClr val="tx1"/>
                        </a:solidFill>
                        <a:latin typeface="Cambria Math" panose="02040503050406030204" pitchFamily="18" charset="0"/>
                      </a:rPr>
                      <m:t>𝐾</m:t>
                    </m:r>
                    <m:r>
                      <a:rPr lang="en-US" sz="2000" kern="100">
                        <a:solidFill>
                          <a:schemeClr val="tx1"/>
                        </a:solidFill>
                        <a:latin typeface="Cambria Math" panose="02040503050406030204" pitchFamily="18" charset="0"/>
                      </a:rPr>
                      <m:t>= </m:t>
                    </m:r>
                    <m:nary>
                      <m:naryPr>
                        <m:chr m:val="∑"/>
                        <m:limLoc m:val="undOvr"/>
                        <m:subHide m:val="on"/>
                        <m:supHide m:val="on"/>
                        <m:ctrlPr>
                          <a:rPr lang="en-US" sz="2000" i="1" kern="100">
                            <a:solidFill>
                              <a:schemeClr val="tx1"/>
                            </a:solidFill>
                            <a:latin typeface="Cambria Math" panose="02040503050406030204" pitchFamily="18" charset="0"/>
                          </a:rPr>
                        </m:ctrlPr>
                      </m:naryPr>
                      <m:sub/>
                      <m:sup/>
                      <m:e>
                        <m:r>
                          <a:rPr lang="en-US" sz="2000" kern="100">
                            <a:solidFill>
                              <a:schemeClr val="tx1"/>
                            </a:solidFill>
                            <a:latin typeface="Cambria Math" panose="02040503050406030204" pitchFamily="18" charset="0"/>
                          </a:rPr>
                          <m:t>𝑄</m:t>
                        </m:r>
                        <m:d>
                          <m:dPr>
                            <m:ctrlPr>
                              <a:rPr lang="en-US" sz="2000" i="1" kern="100">
                                <a:solidFill>
                                  <a:schemeClr val="tx1"/>
                                </a:solidFill>
                                <a:latin typeface="Cambria Math" panose="02040503050406030204" pitchFamily="18" charset="0"/>
                              </a:rPr>
                            </m:ctrlPr>
                          </m:dPr>
                          <m:e>
                            <m:r>
                              <a:rPr lang="en-US" sz="2000" kern="100">
                                <a:solidFill>
                                  <a:schemeClr val="tx1"/>
                                </a:solidFill>
                                <a:latin typeface="Cambria Math" panose="02040503050406030204" pitchFamily="18" charset="0"/>
                              </a:rPr>
                              <m:t>𝑖</m:t>
                            </m:r>
                          </m:e>
                        </m:d>
                      </m:e>
                    </m:nary>
                  </m:oMath>
                </a14:m>
                <a:r>
                  <a:rPr lang="en-US" sz="2000" kern="100" dirty="0">
                    <a:solidFill>
                      <a:schemeClr val="tx1"/>
                    </a:solidFill>
                    <a:latin typeface="Times New Roman" panose="02020603050405020304" pitchFamily="18" charset="0"/>
                    <a:cs typeface="Arial" panose="020B0604020202020204" pitchFamily="34" charset="0"/>
                  </a:rPr>
                  <a:t> ≤ 140,000 </a:t>
                </a:r>
                <a:r>
                  <a:rPr lang="en-US" sz="2000" kern="100" dirty="0" err="1">
                    <a:solidFill>
                      <a:schemeClr val="tx1"/>
                    </a:solidFill>
                    <a:latin typeface="Times New Roman" panose="02020603050405020304" pitchFamily="18" charset="0"/>
                    <a:cs typeface="Arial" panose="020B0604020202020204" pitchFamily="34" charset="0"/>
                  </a:rPr>
                  <a:t>bbl</a:t>
                </a:r>
                <a:r>
                  <a:rPr lang="en-US" sz="2000" kern="100" dirty="0">
                    <a:solidFill>
                      <a:schemeClr val="tx1"/>
                    </a:solidFill>
                    <a:latin typeface="Times New Roman" panose="02020603050405020304" pitchFamily="18" charset="0"/>
                    <a:cs typeface="Arial" panose="020B0604020202020204" pitchFamily="34" charset="0"/>
                  </a:rPr>
                  <a:t>/day</a:t>
                </a:r>
              </a:p>
              <a:p>
                <a:pPr>
                  <a:lnSpc>
                    <a:spcPct val="115000"/>
                  </a:lnSpc>
                  <a:spcAft>
                    <a:spcPts val="800"/>
                  </a:spcAft>
                </a:pPr>
                <a:r>
                  <a:rPr lang="en-US" sz="2000" kern="100" dirty="0">
                    <a:solidFill>
                      <a:schemeClr val="tx1"/>
                    </a:solidFill>
                    <a:latin typeface="Times New Roman" panose="02020603050405020304" pitchFamily="18" charset="0"/>
                    <a:cs typeface="Arial" panose="020B0604020202020204" pitchFamily="34" charset="0"/>
                  </a:rPr>
                  <a:t>Product cut :	</a:t>
                </a:r>
                <a14:m>
                  <m:oMath xmlns:m="http://schemas.openxmlformats.org/officeDocument/2006/math">
                    <m:r>
                      <a:rPr lang="en-US" sz="2000" kern="100">
                        <a:solidFill>
                          <a:schemeClr val="tx1"/>
                        </a:solidFill>
                        <a:latin typeface="Cambria Math" panose="02040503050406030204" pitchFamily="18" charset="0"/>
                      </a:rPr>
                      <m:t>0.3</m:t>
                    </m:r>
                    <m:r>
                      <a:rPr lang="en-US" sz="2000" kern="100">
                        <a:solidFill>
                          <a:schemeClr val="tx1"/>
                        </a:solidFill>
                        <a:latin typeface="Cambria Math" panose="02040503050406030204" pitchFamily="18" charset="0"/>
                      </a:rPr>
                      <m:t>𝐾</m:t>
                    </m:r>
                    <m:r>
                      <a:rPr lang="en-US" sz="2000" kern="100">
                        <a:solidFill>
                          <a:schemeClr val="tx1"/>
                        </a:solidFill>
                        <a:latin typeface="Cambria Math" panose="02040503050406030204" pitchFamily="18" charset="0"/>
                      </a:rPr>
                      <m:t> ≤</m:t>
                    </m:r>
                    <m:r>
                      <a:rPr lang="en-US" sz="2000" kern="100">
                        <a:solidFill>
                          <a:schemeClr val="tx1"/>
                        </a:solidFill>
                        <a:latin typeface="Cambria Math" panose="02040503050406030204" pitchFamily="18" charset="0"/>
                      </a:rPr>
                      <m:t>𝑄</m:t>
                    </m:r>
                    <m:r>
                      <a:rPr lang="en-US" sz="2000" kern="100">
                        <a:solidFill>
                          <a:schemeClr val="tx1"/>
                        </a:solidFill>
                        <a:latin typeface="Cambria Math" panose="02040503050406030204" pitchFamily="18" charset="0"/>
                      </a:rPr>
                      <m:t>(</m:t>
                    </m:r>
                    <m:r>
                      <a:rPr lang="en-US" sz="2000" kern="100">
                        <a:solidFill>
                          <a:schemeClr val="tx1"/>
                        </a:solidFill>
                        <a:latin typeface="Cambria Math" panose="02040503050406030204" pitchFamily="18" charset="0"/>
                      </a:rPr>
                      <m:t>𝑖</m:t>
                    </m:r>
                    <m:r>
                      <a:rPr lang="en-US" sz="2000" kern="100">
                        <a:solidFill>
                          <a:schemeClr val="tx1"/>
                        </a:solidFill>
                        <a:latin typeface="Cambria Math" panose="02040503050406030204" pitchFamily="18" charset="0"/>
                      </a:rPr>
                      <m:t>)≤ 0.7</m:t>
                    </m:r>
                    <m:r>
                      <a:rPr lang="en-US" sz="2000" kern="100">
                        <a:solidFill>
                          <a:schemeClr val="tx1"/>
                        </a:solidFill>
                        <a:latin typeface="Cambria Math" panose="02040503050406030204" pitchFamily="18" charset="0"/>
                      </a:rPr>
                      <m:t>𝐾</m:t>
                    </m:r>
                  </m:oMath>
                </a14:m>
                <a:endParaRPr lang="en-US" sz="2000" kern="100" dirty="0">
                  <a:solidFill>
                    <a:schemeClr val="tx1"/>
                  </a:solidFill>
                  <a:latin typeface="Times New Roman" panose="02020603050405020304" pitchFamily="18" charset="0"/>
                  <a:cs typeface="Arial" panose="020B0604020202020204" pitchFamily="34" charset="0"/>
                </a:endParaRPr>
              </a:p>
            </p:txBody>
          </p:sp>
        </mc:Choice>
        <mc:Fallback xmlns="">
          <p:sp>
            <p:nvSpPr>
              <p:cNvPr id="3" name="TextBox 2">
                <a:extLst>
                  <a:ext uri="{FF2B5EF4-FFF2-40B4-BE49-F238E27FC236}">
                    <a16:creationId xmlns:a16="http://schemas.microsoft.com/office/drawing/2014/main" id="{4CF5D5F4-100E-FAA4-0BBF-C60CD54FA262}"/>
                  </a:ext>
                </a:extLst>
              </p:cNvPr>
              <p:cNvSpPr txBox="1">
                <a:spLocks noRot="1" noChangeAspect="1" noMove="1" noResize="1" noEditPoints="1" noAdjustHandles="1" noChangeArrowheads="1" noChangeShapeType="1" noTextEdit="1"/>
              </p:cNvSpPr>
              <p:nvPr/>
            </p:nvSpPr>
            <p:spPr>
              <a:xfrm>
                <a:off x="26069" y="565939"/>
                <a:ext cx="5688931" cy="3864969"/>
              </a:xfrm>
              <a:prstGeom prst="rect">
                <a:avLst/>
              </a:prstGeom>
              <a:blipFill>
                <a:blip r:embed="rId3"/>
                <a:stretch>
                  <a:fillRect l="-962" t="-314" b="-1730"/>
                </a:stretch>
              </a:blipFill>
              <a:ln>
                <a:solidFill>
                  <a:schemeClr val="accent2"/>
                </a:solidFill>
              </a:ln>
            </p:spPr>
            <p:txBody>
              <a:bodyPr/>
              <a:lstStyle/>
              <a:p>
                <a:r>
                  <a:rPr lang="en-US">
                    <a:noFill/>
                  </a:rPr>
                  <a:t> </a:t>
                </a:r>
              </a:p>
            </p:txBody>
          </p:sp>
        </mc:Fallback>
      </mc:AlternateContent>
      <p:grpSp>
        <p:nvGrpSpPr>
          <p:cNvPr id="5" name="Group 4">
            <a:extLst>
              <a:ext uri="{FF2B5EF4-FFF2-40B4-BE49-F238E27FC236}">
                <a16:creationId xmlns:a16="http://schemas.microsoft.com/office/drawing/2014/main" id="{896764BB-890E-1635-83EC-5C2E38BAC707}"/>
              </a:ext>
            </a:extLst>
          </p:cNvPr>
          <p:cNvGrpSpPr/>
          <p:nvPr/>
        </p:nvGrpSpPr>
        <p:grpSpPr>
          <a:xfrm>
            <a:off x="5812256" y="452202"/>
            <a:ext cx="6187238" cy="4072280"/>
            <a:chOff x="5812256" y="452202"/>
            <a:chExt cx="6187238" cy="4072280"/>
          </a:xfrm>
        </p:grpSpPr>
        <p:sp>
          <p:nvSpPr>
            <p:cNvPr id="10" name="TextBox 9">
              <a:extLst>
                <a:ext uri="{FF2B5EF4-FFF2-40B4-BE49-F238E27FC236}">
                  <a16:creationId xmlns:a16="http://schemas.microsoft.com/office/drawing/2014/main" id="{F56E597F-6A02-191A-B0FE-6922081C75AD}"/>
                </a:ext>
              </a:extLst>
            </p:cNvPr>
            <p:cNvSpPr txBox="1"/>
            <p:nvPr/>
          </p:nvSpPr>
          <p:spPr>
            <a:xfrm>
              <a:off x="5812256" y="452202"/>
              <a:ext cx="6187238" cy="4070153"/>
            </a:xfrm>
            <a:prstGeom prst="rect">
              <a:avLst/>
            </a:prstGeom>
            <a:solidFill>
              <a:schemeClr val="bg1"/>
            </a:solidFill>
            <a:ln>
              <a:solidFill>
                <a:schemeClr val="accent6"/>
              </a:solidFill>
            </a:ln>
          </p:spPr>
          <p:txBody>
            <a:bodyPr wrap="square">
              <a:spAutoFit/>
            </a:bodyPr>
            <a:lstStyle/>
            <a:p>
              <a:pPr>
                <a:lnSpc>
                  <a:spcPct val="115000"/>
                </a:lnSpc>
                <a:spcAft>
                  <a:spcPts val="800"/>
                </a:spcAft>
              </a:pPr>
              <a:r>
                <a:rPr lang="en-US" sz="2000" b="1" kern="100" dirty="0">
                  <a:latin typeface="Times New Roman" panose="02020603050405020304" pitchFamily="18" charset="0"/>
                  <a:ea typeface="Aptos" panose="020B0004020202020204" pitchFamily="34" charset="0"/>
                  <a:cs typeface="Arial" panose="020B0604020202020204" pitchFamily="34" charset="0"/>
                </a:rPr>
                <a:t>NLP </a:t>
              </a:r>
              <a:r>
                <a:rPr lang="en-US" sz="2000" kern="100" dirty="0">
                  <a:latin typeface="Times New Roman" panose="02020603050405020304" pitchFamily="18" charset="0"/>
                  <a:ea typeface="Aptos" panose="020B0004020202020204" pitchFamily="34" charset="0"/>
                  <a:cs typeface="Arial" panose="020B0604020202020204" pitchFamily="34" charset="0"/>
                </a:rPr>
                <a:t>Objective: Maximize Total Surplus</a:t>
              </a:r>
            </a:p>
            <a:p>
              <a:pPr>
                <a:lnSpc>
                  <a:spcPct val="115000"/>
                </a:lnSpc>
                <a:spcAft>
                  <a:spcPts val="800"/>
                </a:spcAft>
              </a:pPr>
              <a:endParaRPr lang="en-US" sz="2000" b="1" kern="100" dirty="0">
                <a:latin typeface="Times New Roman" panose="02020603050405020304" pitchFamily="18" charset="0"/>
                <a:ea typeface="Aptos" panose="020B0004020202020204" pitchFamily="34" charset="0"/>
                <a:cs typeface="Arial" panose="020B0604020202020204" pitchFamily="34" charset="0"/>
              </a:endParaRPr>
            </a:p>
            <a:p>
              <a:pPr>
                <a:lnSpc>
                  <a:spcPct val="115000"/>
                </a:lnSpc>
                <a:spcAft>
                  <a:spcPts val="800"/>
                </a:spcAft>
              </a:pPr>
              <a:endParaRPr lang="en-US" sz="2000" b="1" kern="100" dirty="0">
                <a:latin typeface="Times New Roman" panose="02020603050405020304" pitchFamily="18" charset="0"/>
                <a:ea typeface="Aptos" panose="020B0004020202020204" pitchFamily="34" charset="0"/>
                <a:cs typeface="Arial" panose="020B0604020202020204" pitchFamily="34" charset="0"/>
              </a:endParaRPr>
            </a:p>
            <a:p>
              <a:pPr>
                <a:lnSpc>
                  <a:spcPct val="115000"/>
                </a:lnSpc>
                <a:spcAft>
                  <a:spcPts val="800"/>
                </a:spcAft>
              </a:pPr>
              <a:endParaRPr lang="en-US" sz="2000" b="1" kern="100" dirty="0">
                <a:latin typeface="Times New Roman" panose="02020603050405020304" pitchFamily="18" charset="0"/>
                <a:ea typeface="Aptos" panose="020B0004020202020204" pitchFamily="34" charset="0"/>
                <a:cs typeface="Arial" panose="020B0604020202020204" pitchFamily="34" charset="0"/>
              </a:endParaRPr>
            </a:p>
            <a:p>
              <a:pPr>
                <a:lnSpc>
                  <a:spcPct val="115000"/>
                </a:lnSpc>
                <a:spcAft>
                  <a:spcPts val="800"/>
                </a:spcAft>
              </a:pPr>
              <a:endParaRPr lang="en-US" sz="2000" b="1" kern="100" dirty="0">
                <a:latin typeface="Times New Roman" panose="02020603050405020304" pitchFamily="18" charset="0"/>
                <a:ea typeface="Aptos" panose="020B0004020202020204" pitchFamily="34" charset="0"/>
                <a:cs typeface="Arial" panose="020B0604020202020204" pitchFamily="34" charset="0"/>
              </a:endParaRPr>
            </a:p>
            <a:p>
              <a:pPr>
                <a:lnSpc>
                  <a:spcPct val="115000"/>
                </a:lnSpc>
                <a:spcAft>
                  <a:spcPts val="800"/>
                </a:spcAft>
              </a:pPr>
              <a:endParaRPr lang="en-US" sz="2000" b="1" kern="100" dirty="0">
                <a:latin typeface="Times New Roman" panose="02020603050405020304" pitchFamily="18" charset="0"/>
                <a:ea typeface="Aptos" panose="020B0004020202020204" pitchFamily="34" charset="0"/>
                <a:cs typeface="Arial" panose="020B0604020202020204" pitchFamily="34" charset="0"/>
              </a:endParaRPr>
            </a:p>
            <a:p>
              <a:pPr>
                <a:lnSpc>
                  <a:spcPct val="115000"/>
                </a:lnSpc>
                <a:spcAft>
                  <a:spcPts val="800"/>
                </a:spcAft>
              </a:pPr>
              <a:endParaRPr lang="en-US" sz="2000" b="1" kern="100" dirty="0">
                <a:latin typeface="Times New Roman" panose="02020603050405020304" pitchFamily="18" charset="0"/>
                <a:ea typeface="Aptos" panose="020B0004020202020204" pitchFamily="34" charset="0"/>
                <a:cs typeface="Arial" panose="020B0604020202020204" pitchFamily="34" charset="0"/>
              </a:endParaRPr>
            </a:p>
            <a:p>
              <a:pPr>
                <a:lnSpc>
                  <a:spcPct val="115000"/>
                </a:lnSpc>
                <a:spcAft>
                  <a:spcPts val="800"/>
                </a:spcAft>
              </a:pPr>
              <a:endParaRPr lang="en-US" sz="2000" b="1" kern="100" dirty="0">
                <a:latin typeface="Times New Roman" panose="02020603050405020304" pitchFamily="18" charset="0"/>
                <a:ea typeface="Aptos" panose="020B0004020202020204" pitchFamily="34" charset="0"/>
                <a:cs typeface="Arial" panose="020B0604020202020204" pitchFamily="34" charset="0"/>
              </a:endParaRPr>
            </a:p>
            <a:p>
              <a:pPr>
                <a:lnSpc>
                  <a:spcPct val="115000"/>
                </a:lnSpc>
                <a:spcAft>
                  <a:spcPts val="800"/>
                </a:spcAft>
              </a:pPr>
              <a:endParaRPr lang="en-US" sz="2000" b="1" kern="100" dirty="0">
                <a:latin typeface="Times New Roman" panose="02020603050405020304" pitchFamily="18" charset="0"/>
                <a:ea typeface="Aptos" panose="020B0004020202020204" pitchFamily="34" charset="0"/>
                <a:cs typeface="Arial" panose="020B0604020202020204" pitchFamily="34" charset="0"/>
              </a:endParaRPr>
            </a:p>
          </p:txBody>
        </p:sp>
        <p:grpSp>
          <p:nvGrpSpPr>
            <p:cNvPr id="20" name="Group 19">
              <a:extLst>
                <a:ext uri="{FF2B5EF4-FFF2-40B4-BE49-F238E27FC236}">
                  <a16:creationId xmlns:a16="http://schemas.microsoft.com/office/drawing/2014/main" id="{39DAD308-B6EC-AD5D-B256-342D6D7B6F24}"/>
                </a:ext>
              </a:extLst>
            </p:cNvPr>
            <p:cNvGrpSpPr/>
            <p:nvPr/>
          </p:nvGrpSpPr>
          <p:grpSpPr>
            <a:xfrm>
              <a:off x="5907506" y="1085850"/>
              <a:ext cx="5940593" cy="3438632"/>
              <a:chOff x="5907506" y="990600"/>
              <a:chExt cx="5940593" cy="3933932"/>
            </a:xfrm>
          </p:grpSpPr>
          <p:pic>
            <p:nvPicPr>
              <p:cNvPr id="18" name="Picture 17">
                <a:extLst>
                  <a:ext uri="{FF2B5EF4-FFF2-40B4-BE49-F238E27FC236}">
                    <a16:creationId xmlns:a16="http://schemas.microsoft.com/office/drawing/2014/main" id="{7A3C3213-FF29-425E-0FF4-5C70BB3CD624}"/>
                  </a:ext>
                </a:extLst>
              </p:cNvPr>
              <p:cNvPicPr>
                <a:picLocks noChangeAspect="1"/>
              </p:cNvPicPr>
              <p:nvPr/>
            </p:nvPicPr>
            <p:blipFill>
              <a:blip r:embed="rId4"/>
              <a:stretch>
                <a:fillRect/>
              </a:stretch>
            </p:blipFill>
            <p:spPr>
              <a:xfrm>
                <a:off x="5907506" y="990600"/>
                <a:ext cx="5940593" cy="1347331"/>
              </a:xfrm>
              <a:prstGeom prst="rect">
                <a:avLst/>
              </a:prstGeom>
            </p:spPr>
          </p:pic>
          <p:pic>
            <p:nvPicPr>
              <p:cNvPr id="19" name="Picture 18">
                <a:extLst>
                  <a:ext uri="{FF2B5EF4-FFF2-40B4-BE49-F238E27FC236}">
                    <a16:creationId xmlns:a16="http://schemas.microsoft.com/office/drawing/2014/main" id="{C2B9F8DD-037A-550E-D007-4240833CA0DF}"/>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88506" y="2065127"/>
                <a:ext cx="5050155" cy="2859405"/>
              </a:xfrm>
              <a:prstGeom prst="rect">
                <a:avLst/>
              </a:prstGeom>
              <a:noFill/>
            </p:spPr>
          </p:pic>
        </p:grpSp>
      </p:grpSp>
      <p:grpSp>
        <p:nvGrpSpPr>
          <p:cNvPr id="2" name="Group 1">
            <a:extLst>
              <a:ext uri="{FF2B5EF4-FFF2-40B4-BE49-F238E27FC236}">
                <a16:creationId xmlns:a16="http://schemas.microsoft.com/office/drawing/2014/main" id="{7CFDBA7A-C602-FA9D-F520-8B9CF676196D}"/>
              </a:ext>
            </a:extLst>
          </p:cNvPr>
          <p:cNvGrpSpPr/>
          <p:nvPr/>
        </p:nvGrpSpPr>
        <p:grpSpPr>
          <a:xfrm>
            <a:off x="148891" y="4558817"/>
            <a:ext cx="11779918" cy="2244012"/>
            <a:chOff x="148891" y="4558817"/>
            <a:chExt cx="11779918" cy="2244012"/>
          </a:xfrm>
        </p:grpSpPr>
        <p:sp>
          <p:nvSpPr>
            <p:cNvPr id="21" name="TextBox 20">
              <a:extLst>
                <a:ext uri="{FF2B5EF4-FFF2-40B4-BE49-F238E27FC236}">
                  <a16:creationId xmlns:a16="http://schemas.microsoft.com/office/drawing/2014/main" id="{F841A5C7-AD48-7846-6456-181A06452385}"/>
                </a:ext>
              </a:extLst>
            </p:cNvPr>
            <p:cNvSpPr txBox="1"/>
            <p:nvPr/>
          </p:nvSpPr>
          <p:spPr>
            <a:xfrm>
              <a:off x="148891" y="4558817"/>
              <a:ext cx="11779918" cy="2244012"/>
            </a:xfrm>
            <a:prstGeom prst="rect">
              <a:avLst/>
            </a:prstGeom>
            <a:solidFill>
              <a:schemeClr val="bg1"/>
            </a:solidFill>
            <a:ln>
              <a:solidFill>
                <a:schemeClr val="tx2">
                  <a:lumMod val="75000"/>
                  <a:lumOff val="25000"/>
                </a:schemeClr>
              </a:solidFill>
            </a:ln>
          </p:spPr>
          <p:txBody>
            <a:bodyPr wrap="square">
              <a:spAutoFit/>
            </a:bodyPr>
            <a:lstStyle/>
            <a:p>
              <a:pPr marL="0" marR="0">
                <a:lnSpc>
                  <a:spcPct val="115000"/>
                </a:lnSpc>
                <a:spcAft>
                  <a:spcPts val="800"/>
                </a:spcAft>
                <a:buNone/>
              </a:pPr>
              <a:r>
                <a:rPr lang="en-US" sz="2000" b="1" kern="100" dirty="0">
                  <a:solidFill>
                    <a:schemeClr val="tx1"/>
                  </a:solidFill>
                  <a:effectLst/>
                  <a:latin typeface="Times New Roman" panose="02020603050405020304" pitchFamily="18" charset="0"/>
                  <a:ea typeface="Aptos" panose="020B0004020202020204" pitchFamily="34" charset="0"/>
                  <a:cs typeface="Arial" panose="020B0604020202020204" pitchFamily="34" charset="0"/>
                </a:rPr>
                <a:t>MCP: </a:t>
              </a:r>
              <a:r>
                <a:rPr lang="en-US" sz="2000" kern="100" dirty="0">
                  <a:latin typeface="Times New Roman" panose="02020603050405020304" pitchFamily="18" charset="0"/>
                  <a:cs typeface="Arial" panose="020B0604020202020204" pitchFamily="34" charset="0"/>
                </a:rPr>
                <a:t>Objective: adjust price and quantities unit reach full equilibrium or hit the constraints</a:t>
              </a:r>
            </a:p>
            <a:p>
              <a:pPr marL="0" marR="0">
                <a:lnSpc>
                  <a:spcPct val="115000"/>
                </a:lnSpc>
                <a:spcAft>
                  <a:spcPts val="800"/>
                </a:spcAft>
                <a:buNone/>
              </a:pPr>
              <a:endParaRPr lang="en-US" sz="2000" kern="100" dirty="0">
                <a:latin typeface="Times New Roman" panose="02020603050405020304" pitchFamily="18" charset="0"/>
                <a:cs typeface="Arial" panose="020B0604020202020204" pitchFamily="34" charset="0"/>
              </a:endParaRPr>
            </a:p>
            <a:p>
              <a:pPr marL="0" marR="0">
                <a:lnSpc>
                  <a:spcPct val="115000"/>
                </a:lnSpc>
                <a:spcAft>
                  <a:spcPts val="800"/>
                </a:spcAft>
                <a:buNone/>
              </a:pPr>
              <a:r>
                <a:rPr lang="en-US" sz="2000" kern="100" dirty="0">
                  <a:latin typeface="Times New Roman" panose="02020603050405020304" pitchFamily="18" charset="0"/>
                  <a:cs typeface="Arial" panose="020B0604020202020204" pitchFamily="34" charset="0"/>
                </a:rPr>
                <a:t> </a:t>
              </a:r>
            </a:p>
            <a:p>
              <a:pPr marL="0" marR="0">
                <a:lnSpc>
                  <a:spcPct val="115000"/>
                </a:lnSpc>
                <a:spcAft>
                  <a:spcPts val="800"/>
                </a:spcAft>
                <a:buNone/>
              </a:pPr>
              <a:endParaRPr lang="en-US" sz="2000" kern="100" dirty="0">
                <a:latin typeface="Times New Roman" panose="02020603050405020304" pitchFamily="18" charset="0"/>
                <a:cs typeface="Arial" panose="020B0604020202020204" pitchFamily="34" charset="0"/>
              </a:endParaRPr>
            </a:p>
            <a:p>
              <a:pPr marL="0" marR="0">
                <a:lnSpc>
                  <a:spcPct val="115000"/>
                </a:lnSpc>
                <a:spcAft>
                  <a:spcPts val="800"/>
                </a:spcAft>
                <a:buNone/>
              </a:pPr>
              <a:endParaRPr lang="en-US" sz="2000" kern="100" dirty="0">
                <a:latin typeface="Times New Roman" panose="02020603050405020304" pitchFamily="18" charset="0"/>
                <a:cs typeface="Arial" panose="020B0604020202020204" pitchFamily="34" charset="0"/>
              </a:endParaRPr>
            </a:p>
          </p:txBody>
        </p:sp>
        <p:pic>
          <p:nvPicPr>
            <p:cNvPr id="23" name="Picture 22">
              <a:extLst>
                <a:ext uri="{FF2B5EF4-FFF2-40B4-BE49-F238E27FC236}">
                  <a16:creationId xmlns:a16="http://schemas.microsoft.com/office/drawing/2014/main" id="{28B017AD-AE16-380C-2724-80AF9CAECCCF}"/>
                </a:ext>
              </a:extLst>
            </p:cNvPr>
            <p:cNvPicPr>
              <a:picLocks noChangeAspect="1"/>
            </p:cNvPicPr>
            <p:nvPr/>
          </p:nvPicPr>
          <p:blipFill>
            <a:blip r:embed="rId6"/>
            <a:srcRect l="6004"/>
            <a:stretch>
              <a:fillRect/>
            </a:stretch>
          </p:blipFill>
          <p:spPr>
            <a:xfrm>
              <a:off x="247650" y="4993164"/>
              <a:ext cx="6362699" cy="1603697"/>
            </a:xfrm>
            <a:prstGeom prst="rect">
              <a:avLst/>
            </a:prstGeom>
          </p:spPr>
        </p:pic>
        <p:pic>
          <p:nvPicPr>
            <p:cNvPr id="25" name="Picture 24">
              <a:extLst>
                <a:ext uri="{FF2B5EF4-FFF2-40B4-BE49-F238E27FC236}">
                  <a16:creationId xmlns:a16="http://schemas.microsoft.com/office/drawing/2014/main" id="{BD142CF8-B349-FC8F-2E37-7C6D08D03962}"/>
                </a:ext>
              </a:extLst>
            </p:cNvPr>
            <p:cNvPicPr>
              <a:picLocks noChangeAspect="1"/>
            </p:cNvPicPr>
            <p:nvPr/>
          </p:nvPicPr>
          <p:blipFill>
            <a:blip r:embed="rId7"/>
            <a:stretch>
              <a:fillRect/>
            </a:stretch>
          </p:blipFill>
          <p:spPr>
            <a:xfrm>
              <a:off x="6789238" y="5107866"/>
              <a:ext cx="4048690" cy="1276528"/>
            </a:xfrm>
            <a:prstGeom prst="rect">
              <a:avLst/>
            </a:prstGeom>
          </p:spPr>
        </p:pic>
      </p:grpSp>
    </p:spTree>
    <p:extLst>
      <p:ext uri="{BB962C8B-B14F-4D97-AF65-F5344CB8AC3E}">
        <p14:creationId xmlns:p14="http://schemas.microsoft.com/office/powerpoint/2010/main" val="1040021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5CC18-C2B4-2014-7775-B2F52E694139}"/>
            </a:ext>
          </a:extLst>
        </p:cNvPr>
        <p:cNvGrpSpPr/>
        <p:nvPr/>
      </p:nvGrpSpPr>
      <p:grpSpPr>
        <a:xfrm>
          <a:off x="0" y="0"/>
          <a:ext cx="0" cy="0"/>
          <a:chOff x="0" y="0"/>
          <a:chExt cx="0" cy="0"/>
        </a:xfrm>
      </p:grpSpPr>
      <p:sp>
        <p:nvSpPr>
          <p:cNvPr id="4" name="AutoShape 7">
            <a:extLst>
              <a:ext uri="{FF2B5EF4-FFF2-40B4-BE49-F238E27FC236}">
                <a16:creationId xmlns:a16="http://schemas.microsoft.com/office/drawing/2014/main" id="{C13938ED-7B51-95C6-8109-46380BEDC4F4}"/>
              </a:ext>
            </a:extLst>
          </p:cNvPr>
          <p:cNvSpPr/>
          <p:nvPr/>
        </p:nvSpPr>
        <p:spPr>
          <a:xfrm>
            <a:off x="64169" y="373874"/>
            <a:ext cx="11839074" cy="0"/>
          </a:xfrm>
          <a:prstGeom prst="line">
            <a:avLst/>
          </a:prstGeom>
          <a:ln w="28575" cap="flat">
            <a:solidFill>
              <a:srgbClr val="D1D5D9"/>
            </a:solidFill>
            <a:prstDash val="solid"/>
            <a:headEnd type="none" w="sm" len="sm"/>
            <a:tailEnd type="none" w="sm" len="sm"/>
          </a:ln>
        </p:spPr>
        <p:txBody>
          <a:bodyPr/>
          <a:lstStyle/>
          <a:p>
            <a:endParaRPr lang="en-US" sz="1200"/>
          </a:p>
        </p:txBody>
      </p:sp>
      <p:sp>
        <p:nvSpPr>
          <p:cNvPr id="6" name="TextBox 5">
            <a:extLst>
              <a:ext uri="{FF2B5EF4-FFF2-40B4-BE49-F238E27FC236}">
                <a16:creationId xmlns:a16="http://schemas.microsoft.com/office/drawing/2014/main" id="{E637745B-8F3C-7210-163A-7323228E30CD}"/>
              </a:ext>
            </a:extLst>
          </p:cNvPr>
          <p:cNvSpPr txBox="1"/>
          <p:nvPr/>
        </p:nvSpPr>
        <p:spPr>
          <a:xfrm>
            <a:off x="48127" y="-48126"/>
            <a:ext cx="9881937" cy="461665"/>
          </a:xfrm>
          <a:prstGeom prst="rect">
            <a:avLst/>
          </a:prstGeom>
          <a:noFill/>
        </p:spPr>
        <p:txBody>
          <a:bodyPr wrap="square">
            <a:spAutoFit/>
          </a:bodyPr>
          <a:lstStyle/>
          <a:p>
            <a:r>
              <a:rPr lang="en-US" sz="2400" b="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Assumptions , Major Results &amp; Key Conclusion  </a:t>
            </a:r>
            <a:endParaRPr lang="en-US" sz="2400" b="1" dirty="0">
              <a:solidFill>
                <a:schemeClr val="accent1"/>
              </a:solidFill>
            </a:endParaRPr>
          </a:p>
        </p:txBody>
      </p:sp>
      <p:sp>
        <p:nvSpPr>
          <p:cNvPr id="3" name="TextBox 2">
            <a:extLst>
              <a:ext uri="{FF2B5EF4-FFF2-40B4-BE49-F238E27FC236}">
                <a16:creationId xmlns:a16="http://schemas.microsoft.com/office/drawing/2014/main" id="{75E6A6C9-D147-6D82-DFF2-4B4BC21A6598}"/>
              </a:ext>
            </a:extLst>
          </p:cNvPr>
          <p:cNvSpPr txBox="1"/>
          <p:nvPr/>
        </p:nvSpPr>
        <p:spPr>
          <a:xfrm>
            <a:off x="261937" y="502061"/>
            <a:ext cx="11839073" cy="1985736"/>
          </a:xfrm>
          <a:prstGeom prst="rect">
            <a:avLst/>
          </a:prstGeom>
          <a:noFill/>
        </p:spPr>
        <p:txBody>
          <a:bodyPr wrap="square">
            <a:spAutoFit/>
          </a:bodyPr>
          <a:lstStyle/>
          <a:p>
            <a:pPr marL="342900" marR="0" lvl="0" indent="-342900" algn="just" rtl="0">
              <a:lnSpc>
                <a:spcPct val="115000"/>
              </a:lnSpc>
              <a:buFont typeface="Wingdings" panose="05000000000000000000" pitchFamily="2" charset="2"/>
              <a:buChar char=""/>
            </a:pPr>
            <a:r>
              <a:rPr lang="en-US" sz="1800" b="1" u="sng" kern="100" dirty="0">
                <a:effectLst/>
                <a:latin typeface="Times New Roman" panose="02020603050405020304" pitchFamily="18" charset="0"/>
                <a:ea typeface="Aptos" panose="020B0004020202020204" pitchFamily="34" charset="0"/>
                <a:cs typeface="Arial" panose="020B0604020202020204" pitchFamily="34" charset="0"/>
              </a:rPr>
              <a:t>Major Assumptions: </a:t>
            </a:r>
            <a:endParaRPr lang="en-US" sz="1800" b="1"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just">
              <a:lnSpc>
                <a:spcPct val="115000"/>
              </a:lnSpc>
              <a:buFont typeface="+mj-lt"/>
              <a:buAutoNum type="arabicPeriod"/>
            </a:pPr>
            <a:r>
              <a:rPr lang="en-US" sz="1800" kern="100" dirty="0">
                <a:effectLst/>
                <a:latin typeface="Times New Roman" panose="02020603050405020304" pitchFamily="18" charset="0"/>
                <a:ea typeface="Aptos" panose="020B0004020202020204" pitchFamily="34" charset="0"/>
                <a:cs typeface="Arial" panose="020B0604020202020204" pitchFamily="34" charset="0"/>
              </a:rPr>
              <a:t>The refinery produces only two products, namely, gasoline and MD.</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just">
              <a:lnSpc>
                <a:spcPct val="115000"/>
              </a:lnSpc>
              <a:buFont typeface="+mj-lt"/>
              <a:buAutoNum type="arabicPeriod"/>
            </a:pPr>
            <a:r>
              <a:rPr lang="en-US" sz="1800" kern="100" dirty="0">
                <a:effectLst/>
                <a:latin typeface="Times New Roman" panose="02020603050405020304" pitchFamily="18" charset="0"/>
                <a:ea typeface="Aptos" panose="020B0004020202020204" pitchFamily="34" charset="0"/>
                <a:cs typeface="Arial" panose="020B0604020202020204" pitchFamily="34" charset="0"/>
              </a:rPr>
              <a:t>Fixed capacity of refinery throughput at 140,000 </a:t>
            </a:r>
            <a:r>
              <a:rPr lang="en-US" sz="1800" kern="100" dirty="0" err="1">
                <a:effectLst/>
                <a:latin typeface="Times New Roman" panose="02020603050405020304" pitchFamily="18" charset="0"/>
                <a:ea typeface="Aptos" panose="020B0004020202020204" pitchFamily="34" charset="0"/>
                <a:cs typeface="Arial" panose="020B0604020202020204" pitchFamily="34" charset="0"/>
              </a:rPr>
              <a:t>bbl</a:t>
            </a:r>
            <a:r>
              <a:rPr lang="en-US" sz="1800" kern="100" dirty="0">
                <a:effectLst/>
                <a:latin typeface="Times New Roman" panose="02020603050405020304" pitchFamily="18" charset="0"/>
                <a:ea typeface="Aptos" panose="020B0004020202020204" pitchFamily="34" charset="0"/>
                <a:cs typeface="Arial" panose="020B0604020202020204" pitchFamily="34" charset="0"/>
              </a:rPr>
              <a:t>/day. </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just">
              <a:lnSpc>
                <a:spcPct val="115000"/>
              </a:lnSpc>
              <a:buFont typeface="+mj-lt"/>
              <a:buAutoNum type="arabicPeriod"/>
            </a:pPr>
            <a:r>
              <a:rPr lang="en-US" sz="1800" kern="100" dirty="0">
                <a:effectLst/>
                <a:latin typeface="Times New Roman" panose="02020603050405020304" pitchFamily="18" charset="0"/>
                <a:ea typeface="Aptos" panose="020B0004020202020204" pitchFamily="34" charset="0"/>
                <a:cs typeface="Arial" panose="020B0604020202020204" pitchFamily="34" charset="0"/>
              </a:rPr>
              <a:t>Single period model, in which time change effect is not considered here. </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just">
              <a:lnSpc>
                <a:spcPct val="115000"/>
              </a:lnSpc>
              <a:buFont typeface="+mj-lt"/>
              <a:buAutoNum type="arabicPeriod"/>
            </a:pPr>
            <a:r>
              <a:rPr lang="en-US" sz="1800" kern="100" dirty="0">
                <a:effectLst/>
                <a:latin typeface="Times New Roman" panose="02020603050405020304" pitchFamily="18" charset="0"/>
                <a:ea typeface="Aptos" panose="020B0004020202020204" pitchFamily="34" charset="0"/>
                <a:cs typeface="Arial" panose="020B0604020202020204" pitchFamily="34" charset="0"/>
              </a:rPr>
              <a:t>Optimization is done by single refinery as it is the most cost-effective refinery in the area</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just">
              <a:lnSpc>
                <a:spcPct val="115000"/>
              </a:lnSpc>
              <a:spcAft>
                <a:spcPts val="800"/>
              </a:spcAft>
              <a:buFont typeface="+mj-lt"/>
              <a:buAutoNum type="arabicPeriod"/>
            </a:pPr>
            <a:r>
              <a:rPr lang="en-US" sz="1800" kern="100" dirty="0">
                <a:effectLst/>
                <a:latin typeface="Times New Roman" panose="02020603050405020304" pitchFamily="18" charset="0"/>
                <a:ea typeface="Aptos" panose="020B0004020202020204" pitchFamily="34" charset="0"/>
                <a:cs typeface="Arial" panose="020B0604020202020204" pitchFamily="34" charset="0"/>
              </a:rPr>
              <a:t>Other supply nodes can meet the rest of the demand, but they are less profitable than this refinery. </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E1B29458-334D-F8F4-FF89-F3955BFE3E2C}"/>
              </a:ext>
            </a:extLst>
          </p:cNvPr>
          <p:cNvSpPr txBox="1"/>
          <p:nvPr/>
        </p:nvSpPr>
        <p:spPr>
          <a:xfrm>
            <a:off x="147637" y="2813404"/>
            <a:ext cx="3624263" cy="392993"/>
          </a:xfrm>
          <a:prstGeom prst="rect">
            <a:avLst/>
          </a:prstGeom>
          <a:noFill/>
        </p:spPr>
        <p:txBody>
          <a:bodyPr wrap="square" rtlCol="0">
            <a:spAutoFit/>
          </a:bodyPr>
          <a:lstStyle/>
          <a:p>
            <a:pPr marL="342900" indent="-342900" algn="just">
              <a:lnSpc>
                <a:spcPct val="115000"/>
              </a:lnSpc>
              <a:buFont typeface="Wingdings" panose="05000000000000000000" pitchFamily="2" charset="2"/>
              <a:buChar char=""/>
            </a:pPr>
            <a:r>
              <a:rPr lang="en-US" b="1" u="sng" kern="100" dirty="0">
                <a:latin typeface="Times New Roman" panose="02020603050405020304" pitchFamily="18" charset="0"/>
                <a:cs typeface="Arial" panose="020B0604020202020204" pitchFamily="34" charset="0"/>
              </a:rPr>
              <a:t>Major Results</a:t>
            </a:r>
          </a:p>
        </p:txBody>
      </p:sp>
      <mc:AlternateContent xmlns:mc="http://schemas.openxmlformats.org/markup-compatibility/2006" xmlns:a14="http://schemas.microsoft.com/office/drawing/2010/main">
        <mc:Choice Requires="a14">
          <p:graphicFrame>
            <p:nvGraphicFramePr>
              <p:cNvPr id="16" name="Table 15">
                <a:extLst>
                  <a:ext uri="{FF2B5EF4-FFF2-40B4-BE49-F238E27FC236}">
                    <a16:creationId xmlns:a16="http://schemas.microsoft.com/office/drawing/2014/main" id="{3F33E7A7-1566-284E-C2DB-6394EBDEA5AB}"/>
                  </a:ext>
                </a:extLst>
              </p:cNvPr>
              <p:cNvGraphicFramePr>
                <a:graphicFrameLocks noGrp="1"/>
              </p:cNvGraphicFramePr>
              <p:nvPr>
                <p:extLst>
                  <p:ext uri="{D42A27DB-BD31-4B8C-83A1-F6EECF244321}">
                    <p14:modId xmlns:p14="http://schemas.microsoft.com/office/powerpoint/2010/main" val="1370374159"/>
                  </p:ext>
                </p:extLst>
              </p:nvPr>
            </p:nvGraphicFramePr>
            <p:xfrm>
              <a:off x="55145" y="3308820"/>
              <a:ext cx="5937250" cy="1451864"/>
            </p:xfrm>
            <a:graphic>
              <a:graphicData uri="http://schemas.openxmlformats.org/drawingml/2006/table">
                <a:tbl>
                  <a:tblPr firstRow="1" firstCol="1" bandRow="1">
                    <a:tableStyleId>{5C22544A-7EE6-4342-B048-85BDC9FD1C3A}</a:tableStyleId>
                  </a:tblPr>
                  <a:tblGrid>
                    <a:gridCol w="2968625">
                      <a:extLst>
                        <a:ext uri="{9D8B030D-6E8A-4147-A177-3AD203B41FA5}">
                          <a16:colId xmlns:a16="http://schemas.microsoft.com/office/drawing/2014/main" val="4005274484"/>
                        </a:ext>
                      </a:extLst>
                    </a:gridCol>
                    <a:gridCol w="2968625">
                      <a:extLst>
                        <a:ext uri="{9D8B030D-6E8A-4147-A177-3AD203B41FA5}">
                          <a16:colId xmlns:a16="http://schemas.microsoft.com/office/drawing/2014/main" val="454229084"/>
                        </a:ext>
                      </a:extLst>
                    </a:gridCol>
                  </a:tblGrid>
                  <a:tr h="0">
                    <a:tc>
                      <a:txBody>
                        <a:bodyPr/>
                        <a:lstStyle/>
                        <a:p>
                          <a:pPr marL="0" marR="0" algn="ctr">
                            <a:lnSpc>
                              <a:spcPct val="115000"/>
                            </a:lnSpc>
                            <a:spcAft>
                              <a:spcPts val="800"/>
                            </a:spcAft>
                            <a:buNone/>
                          </a:pPr>
                          <a:r>
                            <a:rPr lang="en-US" sz="2000" kern="100" dirty="0">
                              <a:effectLst/>
                            </a:rPr>
                            <a:t>Variable </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2000" kern="100" dirty="0">
                              <a:effectLst/>
                            </a:rPr>
                            <a:t>Result </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519813050"/>
                      </a:ext>
                    </a:extLst>
                  </a:tr>
                  <a:tr h="0">
                    <a:tc>
                      <a:txBody>
                        <a:bodyPr/>
                        <a:lstStyle/>
                        <a:p>
                          <a:pPr marL="0" marR="0" algn="ctr">
                            <a:lnSpc>
                              <a:spcPct val="115000"/>
                            </a:lnSpc>
                            <a:spcAft>
                              <a:spcPts val="800"/>
                            </a:spcAft>
                            <a:buNone/>
                          </a:pPr>
                          <a:r>
                            <a:rPr lang="en-US" sz="2000" kern="100" dirty="0" err="1">
                              <a:effectLst/>
                            </a:rPr>
                            <a:t>Q</a:t>
                          </a:r>
                          <a:r>
                            <a:rPr lang="en-US" sz="2000" kern="100" baseline="-25000" dirty="0" err="1">
                              <a:effectLst/>
                            </a:rPr>
                            <a:t>Gasoline</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2000" kern="100" dirty="0">
                              <a:effectLst/>
                            </a:rPr>
                            <a:t> 42,000 (</a:t>
                          </a:r>
                          <a:r>
                            <a:rPr lang="en-US" sz="2000" kern="100" dirty="0" err="1">
                              <a:effectLst/>
                            </a:rPr>
                            <a:t>bbl</a:t>
                          </a:r>
                          <a:r>
                            <a:rPr lang="en-US" sz="2000" kern="100" dirty="0">
                              <a:effectLst/>
                            </a:rPr>
                            <a:t>/day)</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141608873"/>
                      </a:ext>
                    </a:extLst>
                  </a:tr>
                  <a:tr h="0">
                    <a:tc>
                      <a:txBody>
                        <a:bodyPr/>
                        <a:lstStyle/>
                        <a:p>
                          <a:pPr marL="0" marR="0" algn="ctr">
                            <a:lnSpc>
                              <a:spcPct val="115000"/>
                            </a:lnSpc>
                            <a:spcAft>
                              <a:spcPts val="800"/>
                            </a:spcAft>
                            <a:buNone/>
                          </a:pPr>
                          <a:r>
                            <a:rPr lang="en-US" sz="2000" kern="100">
                              <a:effectLst/>
                            </a:rPr>
                            <a:t>Q</a:t>
                          </a:r>
                          <a:r>
                            <a:rPr lang="en-US" sz="2000" kern="100" baseline="-25000">
                              <a:effectLst/>
                            </a:rPr>
                            <a:t>MD</a:t>
                          </a:r>
                          <a:endParaRPr lang="en-US" sz="20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2000" kern="100" dirty="0">
                              <a:effectLst/>
                            </a:rPr>
                            <a:t>98,000 (</a:t>
                          </a:r>
                          <a:r>
                            <a:rPr lang="en-US" sz="2000" kern="100" dirty="0" err="1">
                              <a:effectLst/>
                            </a:rPr>
                            <a:t>bbl</a:t>
                          </a:r>
                          <a:r>
                            <a:rPr lang="en-US" sz="2000" kern="100" dirty="0">
                              <a:effectLst/>
                            </a:rPr>
                            <a:t>/day)</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939244058"/>
                      </a:ext>
                    </a:extLst>
                  </a:tr>
                  <a:tr h="0">
                    <a:tc>
                      <a:txBody>
                        <a:bodyPr/>
                        <a:lstStyle/>
                        <a:p>
                          <a:pPr marL="0" marR="0" algn="ctr">
                            <a:lnSpc>
                              <a:spcPct val="115000"/>
                            </a:lnSpc>
                            <a:spcAft>
                              <a:spcPts val="800"/>
                            </a:spcAft>
                            <a:buNone/>
                          </a:pPr>
                          <a14:m>
                            <m:oMathPara xmlns:m="http://schemas.openxmlformats.org/officeDocument/2006/math">
                              <m:oMathParaPr>
                                <m:jc m:val="centerGroup"/>
                              </m:oMathParaPr>
                              <m:oMath xmlns:m="http://schemas.openxmlformats.org/officeDocument/2006/math">
                                <m:r>
                                  <a:rPr lang="en-US" sz="2000" kern="100">
                                    <a:effectLst/>
                                    <a:latin typeface="Cambria Math" panose="02040503050406030204" pitchFamily="18" charset="0"/>
                                  </a:rPr>
                                  <m:t>𝜋</m:t>
                                </m:r>
                              </m:oMath>
                            </m:oMathPara>
                          </a14:m>
                          <a:endParaRPr lang="en-US" sz="20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2000" kern="100" dirty="0">
                              <a:effectLst/>
                            </a:rPr>
                            <a:t>$ 11.58 million </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503112621"/>
                      </a:ext>
                    </a:extLst>
                  </a:tr>
                </a:tbl>
              </a:graphicData>
            </a:graphic>
          </p:graphicFrame>
        </mc:Choice>
        <mc:Fallback xmlns="">
          <p:graphicFrame>
            <p:nvGraphicFramePr>
              <p:cNvPr id="16" name="Table 15">
                <a:extLst>
                  <a:ext uri="{FF2B5EF4-FFF2-40B4-BE49-F238E27FC236}">
                    <a16:creationId xmlns:a16="http://schemas.microsoft.com/office/drawing/2014/main" id="{3F33E7A7-1566-284E-C2DB-6394EBDEA5AB}"/>
                  </a:ext>
                </a:extLst>
              </p:cNvPr>
              <p:cNvGraphicFramePr>
                <a:graphicFrameLocks noGrp="1"/>
              </p:cNvGraphicFramePr>
              <p:nvPr>
                <p:extLst>
                  <p:ext uri="{D42A27DB-BD31-4B8C-83A1-F6EECF244321}">
                    <p14:modId xmlns:p14="http://schemas.microsoft.com/office/powerpoint/2010/main" val="1370374159"/>
                  </p:ext>
                </p:extLst>
              </p:nvPr>
            </p:nvGraphicFramePr>
            <p:xfrm>
              <a:off x="55145" y="3308820"/>
              <a:ext cx="5937250" cy="1451864"/>
            </p:xfrm>
            <a:graphic>
              <a:graphicData uri="http://schemas.openxmlformats.org/drawingml/2006/table">
                <a:tbl>
                  <a:tblPr firstRow="1" firstCol="1" bandRow="1">
                    <a:tableStyleId>{5C22544A-7EE6-4342-B048-85BDC9FD1C3A}</a:tableStyleId>
                  </a:tblPr>
                  <a:tblGrid>
                    <a:gridCol w="2968625">
                      <a:extLst>
                        <a:ext uri="{9D8B030D-6E8A-4147-A177-3AD203B41FA5}">
                          <a16:colId xmlns:a16="http://schemas.microsoft.com/office/drawing/2014/main" val="4005274484"/>
                        </a:ext>
                      </a:extLst>
                    </a:gridCol>
                    <a:gridCol w="2968625">
                      <a:extLst>
                        <a:ext uri="{9D8B030D-6E8A-4147-A177-3AD203B41FA5}">
                          <a16:colId xmlns:a16="http://schemas.microsoft.com/office/drawing/2014/main" val="454229084"/>
                        </a:ext>
                      </a:extLst>
                    </a:gridCol>
                  </a:tblGrid>
                  <a:tr h="333248">
                    <a:tc>
                      <a:txBody>
                        <a:bodyPr/>
                        <a:lstStyle/>
                        <a:p>
                          <a:pPr marL="0" marR="0" algn="ctr">
                            <a:lnSpc>
                              <a:spcPct val="115000"/>
                            </a:lnSpc>
                            <a:spcAft>
                              <a:spcPts val="800"/>
                            </a:spcAft>
                            <a:buNone/>
                          </a:pPr>
                          <a:r>
                            <a:rPr lang="en-US" sz="2000" kern="100" dirty="0">
                              <a:effectLst/>
                            </a:rPr>
                            <a:t>Variable </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2000" kern="100" dirty="0">
                              <a:effectLst/>
                            </a:rPr>
                            <a:t>Result </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519813050"/>
                      </a:ext>
                    </a:extLst>
                  </a:tr>
                  <a:tr h="333248">
                    <a:tc>
                      <a:txBody>
                        <a:bodyPr/>
                        <a:lstStyle/>
                        <a:p>
                          <a:pPr marL="0" marR="0" algn="ctr">
                            <a:lnSpc>
                              <a:spcPct val="115000"/>
                            </a:lnSpc>
                            <a:spcAft>
                              <a:spcPts val="800"/>
                            </a:spcAft>
                            <a:buNone/>
                          </a:pPr>
                          <a:r>
                            <a:rPr lang="en-US" sz="2000" kern="100" dirty="0" err="1">
                              <a:effectLst/>
                            </a:rPr>
                            <a:t>Q</a:t>
                          </a:r>
                          <a:r>
                            <a:rPr lang="en-US" sz="2000" kern="100" baseline="-25000" dirty="0" err="1">
                              <a:effectLst/>
                            </a:rPr>
                            <a:t>Gasoline</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2000" kern="100" dirty="0">
                              <a:effectLst/>
                            </a:rPr>
                            <a:t> 42,000 (</a:t>
                          </a:r>
                          <a:r>
                            <a:rPr lang="en-US" sz="2000" kern="100" dirty="0" err="1">
                              <a:effectLst/>
                            </a:rPr>
                            <a:t>bbl</a:t>
                          </a:r>
                          <a:r>
                            <a:rPr lang="en-US" sz="2000" kern="100" dirty="0">
                              <a:effectLst/>
                            </a:rPr>
                            <a:t>/day)</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141608873"/>
                      </a:ext>
                    </a:extLst>
                  </a:tr>
                  <a:tr h="333248">
                    <a:tc>
                      <a:txBody>
                        <a:bodyPr/>
                        <a:lstStyle/>
                        <a:p>
                          <a:pPr marL="0" marR="0" algn="ctr">
                            <a:lnSpc>
                              <a:spcPct val="115000"/>
                            </a:lnSpc>
                            <a:spcAft>
                              <a:spcPts val="800"/>
                            </a:spcAft>
                            <a:buNone/>
                          </a:pPr>
                          <a:r>
                            <a:rPr lang="en-US" sz="2000" kern="100">
                              <a:effectLst/>
                            </a:rPr>
                            <a:t>Q</a:t>
                          </a:r>
                          <a:r>
                            <a:rPr lang="en-US" sz="2000" kern="100" baseline="-25000">
                              <a:effectLst/>
                            </a:rPr>
                            <a:t>MD</a:t>
                          </a:r>
                          <a:endParaRPr lang="en-US" sz="20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2000" kern="100" dirty="0">
                              <a:effectLst/>
                            </a:rPr>
                            <a:t>98,000 (</a:t>
                          </a:r>
                          <a:r>
                            <a:rPr lang="en-US" sz="2000" kern="100" dirty="0" err="1">
                              <a:effectLst/>
                            </a:rPr>
                            <a:t>bbl</a:t>
                          </a:r>
                          <a:r>
                            <a:rPr lang="en-US" sz="2000" kern="100" dirty="0">
                              <a:effectLst/>
                            </a:rPr>
                            <a:t>/day)</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939244058"/>
                      </a:ext>
                    </a:extLst>
                  </a:tr>
                  <a:tr h="452120">
                    <a:tc>
                      <a:txBody>
                        <a:bodyPr/>
                        <a:lstStyle/>
                        <a:p>
                          <a:endParaRPr lang="en-US"/>
                        </a:p>
                      </a:txBody>
                      <a:tcPr marL="68580" marR="68580" marT="0" marB="0">
                        <a:blipFill>
                          <a:blip r:embed="rId3"/>
                          <a:stretch>
                            <a:fillRect l="-205" t="-232432" r="-100615" b="-8108"/>
                          </a:stretch>
                        </a:blipFill>
                      </a:tcPr>
                    </a:tc>
                    <a:tc>
                      <a:txBody>
                        <a:bodyPr/>
                        <a:lstStyle/>
                        <a:p>
                          <a:pPr marL="0" marR="0" algn="ctr">
                            <a:lnSpc>
                              <a:spcPct val="115000"/>
                            </a:lnSpc>
                            <a:spcAft>
                              <a:spcPts val="800"/>
                            </a:spcAft>
                            <a:buNone/>
                          </a:pPr>
                          <a:r>
                            <a:rPr lang="en-US" sz="2000" kern="100" dirty="0">
                              <a:effectLst/>
                            </a:rPr>
                            <a:t>$ 11.58 million </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503112621"/>
                      </a:ext>
                    </a:extLst>
                  </a:tr>
                </a:tbl>
              </a:graphicData>
            </a:graphic>
          </p:graphicFrame>
        </mc:Fallback>
      </mc:AlternateContent>
      <p:sp>
        <p:nvSpPr>
          <p:cNvPr id="17" name="TextBox 16">
            <a:extLst>
              <a:ext uri="{FF2B5EF4-FFF2-40B4-BE49-F238E27FC236}">
                <a16:creationId xmlns:a16="http://schemas.microsoft.com/office/drawing/2014/main" id="{CDAC5792-B918-1DB5-6282-5D805AD7DED4}"/>
              </a:ext>
            </a:extLst>
          </p:cNvPr>
          <p:cNvSpPr txBox="1"/>
          <p:nvPr/>
        </p:nvSpPr>
        <p:spPr>
          <a:xfrm>
            <a:off x="2359817" y="2801644"/>
            <a:ext cx="941535" cy="584775"/>
          </a:xfrm>
          <a:prstGeom prst="rect">
            <a:avLst/>
          </a:prstGeom>
          <a:noFill/>
        </p:spPr>
        <p:txBody>
          <a:bodyPr wrap="square" rtlCol="0">
            <a:spAutoFit/>
          </a:bodyPr>
          <a:lstStyle/>
          <a:p>
            <a:r>
              <a:rPr lang="en-US" sz="3200" b="1" dirty="0">
                <a:solidFill>
                  <a:srgbClr val="FFC000"/>
                </a:solidFill>
              </a:rPr>
              <a:t>LP</a:t>
            </a:r>
          </a:p>
        </p:txBody>
      </p:sp>
      <p:sp>
        <p:nvSpPr>
          <p:cNvPr id="18" name="TextBox 17">
            <a:extLst>
              <a:ext uri="{FF2B5EF4-FFF2-40B4-BE49-F238E27FC236}">
                <a16:creationId xmlns:a16="http://schemas.microsoft.com/office/drawing/2014/main" id="{B81D712A-ABE3-918F-C57D-64ABEFFF0B14}"/>
              </a:ext>
            </a:extLst>
          </p:cNvPr>
          <p:cNvSpPr txBox="1"/>
          <p:nvPr/>
        </p:nvSpPr>
        <p:spPr>
          <a:xfrm>
            <a:off x="2318398" y="4765625"/>
            <a:ext cx="2383632" cy="584775"/>
          </a:xfrm>
          <a:prstGeom prst="rect">
            <a:avLst/>
          </a:prstGeom>
          <a:noFill/>
        </p:spPr>
        <p:txBody>
          <a:bodyPr wrap="square" rtlCol="0">
            <a:spAutoFit/>
          </a:bodyPr>
          <a:lstStyle/>
          <a:p>
            <a:r>
              <a:rPr lang="en-US" sz="3200" b="1" dirty="0">
                <a:solidFill>
                  <a:srgbClr val="00B050"/>
                </a:solidFill>
              </a:rPr>
              <a:t>NLP</a:t>
            </a:r>
          </a:p>
        </p:txBody>
      </p:sp>
      <p:graphicFrame>
        <p:nvGraphicFramePr>
          <p:cNvPr id="21" name="Table 20">
            <a:extLst>
              <a:ext uri="{FF2B5EF4-FFF2-40B4-BE49-F238E27FC236}">
                <a16:creationId xmlns:a16="http://schemas.microsoft.com/office/drawing/2014/main" id="{56B0BF7C-FF35-8A84-AC87-6C9FC4333F37}"/>
              </a:ext>
            </a:extLst>
          </p:cNvPr>
          <p:cNvGraphicFramePr>
            <a:graphicFrameLocks noGrp="1"/>
          </p:cNvGraphicFramePr>
          <p:nvPr>
            <p:extLst>
              <p:ext uri="{D42A27DB-BD31-4B8C-83A1-F6EECF244321}">
                <p14:modId xmlns:p14="http://schemas.microsoft.com/office/powerpoint/2010/main" val="377672610"/>
              </p:ext>
            </p:extLst>
          </p:nvPr>
        </p:nvGraphicFramePr>
        <p:xfrm>
          <a:off x="46457" y="5302719"/>
          <a:ext cx="5937250" cy="989720"/>
        </p:xfrm>
        <a:graphic>
          <a:graphicData uri="http://schemas.openxmlformats.org/drawingml/2006/table">
            <a:tbl>
              <a:tblPr firstRow="1" firstCol="1" bandRow="1">
                <a:tableStyleId>{5C22544A-7EE6-4342-B048-85BDC9FD1C3A}</a:tableStyleId>
              </a:tblPr>
              <a:tblGrid>
                <a:gridCol w="2968625">
                  <a:extLst>
                    <a:ext uri="{9D8B030D-6E8A-4147-A177-3AD203B41FA5}">
                      <a16:colId xmlns:a16="http://schemas.microsoft.com/office/drawing/2014/main" val="4005274484"/>
                    </a:ext>
                  </a:extLst>
                </a:gridCol>
                <a:gridCol w="2968625">
                  <a:extLst>
                    <a:ext uri="{9D8B030D-6E8A-4147-A177-3AD203B41FA5}">
                      <a16:colId xmlns:a16="http://schemas.microsoft.com/office/drawing/2014/main" val="454229084"/>
                    </a:ext>
                  </a:extLst>
                </a:gridCol>
              </a:tblGrid>
              <a:tr h="494860">
                <a:tc>
                  <a:txBody>
                    <a:bodyPr/>
                    <a:lstStyle/>
                    <a:p>
                      <a:pPr marL="0" marR="0" algn="ctr">
                        <a:lnSpc>
                          <a:spcPct val="115000"/>
                        </a:lnSpc>
                        <a:spcAft>
                          <a:spcPts val="800"/>
                        </a:spcAft>
                        <a:buNone/>
                      </a:pPr>
                      <a:r>
                        <a:rPr lang="en-US" sz="2000" kern="100" dirty="0">
                          <a:effectLst/>
                        </a:rPr>
                        <a:t>Variable </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2000" kern="100" dirty="0">
                          <a:effectLst/>
                        </a:rPr>
                        <a:t>Result </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519813050"/>
                  </a:ext>
                </a:extLst>
              </a:tr>
              <a:tr h="494860">
                <a:tc>
                  <a:txBody>
                    <a:bodyPr/>
                    <a:lstStyle/>
                    <a:p>
                      <a:pPr marL="0" marR="0" algn="ctr">
                        <a:lnSpc>
                          <a:spcPct val="115000"/>
                        </a:lnSpc>
                        <a:spcAft>
                          <a:spcPts val="800"/>
                        </a:spcAft>
                        <a:buNone/>
                      </a:pPr>
                      <a:r>
                        <a:rPr lang="en-US" sz="2000" kern="100" dirty="0">
                          <a:effectLst/>
                        </a:rPr>
                        <a:t>TS</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2000" kern="100" dirty="0">
                          <a:effectLst/>
                        </a:rPr>
                        <a:t>$ 9.7 million</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141608873"/>
                  </a:ext>
                </a:extLst>
              </a:tr>
            </a:tbl>
          </a:graphicData>
        </a:graphic>
      </p:graphicFrame>
      <p:graphicFrame>
        <p:nvGraphicFramePr>
          <p:cNvPr id="22" name="Table 21">
            <a:extLst>
              <a:ext uri="{FF2B5EF4-FFF2-40B4-BE49-F238E27FC236}">
                <a16:creationId xmlns:a16="http://schemas.microsoft.com/office/drawing/2014/main" id="{F0DBFDB3-9493-7832-F4D5-DF53139DE02E}"/>
              </a:ext>
            </a:extLst>
          </p:cNvPr>
          <p:cNvGraphicFramePr>
            <a:graphicFrameLocks noGrp="1"/>
          </p:cNvGraphicFramePr>
          <p:nvPr>
            <p:extLst>
              <p:ext uri="{D42A27DB-BD31-4B8C-83A1-F6EECF244321}">
                <p14:modId xmlns:p14="http://schemas.microsoft.com/office/powerpoint/2010/main" val="1718253277"/>
              </p:ext>
            </p:extLst>
          </p:nvPr>
        </p:nvGraphicFramePr>
        <p:xfrm>
          <a:off x="6136107" y="3346264"/>
          <a:ext cx="5937250" cy="2990470"/>
        </p:xfrm>
        <a:graphic>
          <a:graphicData uri="http://schemas.openxmlformats.org/drawingml/2006/table">
            <a:tbl>
              <a:tblPr firstRow="1" firstCol="1" bandRow="1">
                <a:tableStyleId>{5C22544A-7EE6-4342-B048-85BDC9FD1C3A}</a:tableStyleId>
              </a:tblPr>
              <a:tblGrid>
                <a:gridCol w="2968625">
                  <a:extLst>
                    <a:ext uri="{9D8B030D-6E8A-4147-A177-3AD203B41FA5}">
                      <a16:colId xmlns:a16="http://schemas.microsoft.com/office/drawing/2014/main" val="4232665036"/>
                    </a:ext>
                  </a:extLst>
                </a:gridCol>
                <a:gridCol w="2968625">
                  <a:extLst>
                    <a:ext uri="{9D8B030D-6E8A-4147-A177-3AD203B41FA5}">
                      <a16:colId xmlns:a16="http://schemas.microsoft.com/office/drawing/2014/main" val="3924741351"/>
                    </a:ext>
                  </a:extLst>
                </a:gridCol>
              </a:tblGrid>
              <a:tr h="489904">
                <a:tc>
                  <a:txBody>
                    <a:bodyPr/>
                    <a:lstStyle/>
                    <a:p>
                      <a:pPr marL="0" marR="0" algn="ctr">
                        <a:lnSpc>
                          <a:spcPct val="115000"/>
                        </a:lnSpc>
                        <a:spcAft>
                          <a:spcPts val="800"/>
                        </a:spcAft>
                        <a:buNone/>
                      </a:pPr>
                      <a:r>
                        <a:rPr lang="en-US" sz="2000" kern="100" dirty="0">
                          <a:effectLst/>
                        </a:rPr>
                        <a:t>Variable </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2000" kern="100">
                          <a:effectLst/>
                        </a:rPr>
                        <a:t>Result </a:t>
                      </a:r>
                      <a:endParaRPr lang="en-US" sz="20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490375055"/>
                  </a:ext>
                </a:extLst>
              </a:tr>
              <a:tr h="1005331">
                <a:tc>
                  <a:txBody>
                    <a:bodyPr/>
                    <a:lstStyle/>
                    <a:p>
                      <a:pPr marL="0" marR="0" algn="ctr" defTabSz="914400" rtl="0" eaLnBrk="1" latinLnBrk="0" hangingPunct="1">
                        <a:lnSpc>
                          <a:spcPct val="115000"/>
                        </a:lnSpc>
                        <a:spcAft>
                          <a:spcPts val="800"/>
                        </a:spcAft>
                        <a:buNone/>
                      </a:pPr>
                      <a:r>
                        <a:rPr lang="en-US" sz="2000" b="1" kern="100" dirty="0">
                          <a:solidFill>
                            <a:schemeClr val="lt1"/>
                          </a:solidFill>
                          <a:effectLst/>
                          <a:latin typeface="+mn-lt"/>
                          <a:ea typeface="+mn-ea"/>
                          <a:cs typeface="+mn-cs"/>
                        </a:rPr>
                        <a:t>Equilibrium Production levels by customers </a:t>
                      </a:r>
                    </a:p>
                  </a:txBody>
                  <a:tcPr marL="68580" marR="68580" marT="0" marB="0" anchor="ctr"/>
                </a:tc>
                <a:tc>
                  <a:txBody>
                    <a:bodyPr/>
                    <a:lstStyle/>
                    <a:p>
                      <a:pPr algn="ctr">
                        <a:buNone/>
                      </a:pPr>
                      <a:endParaRPr lang="en-US" sz="2000" kern="100" dirty="0">
                        <a:effectLst/>
                        <a:latin typeface="Aptos" panose="020B0004020202020204" pitchFamily="34" charset="0"/>
                      </a:endParaRPr>
                    </a:p>
                  </a:txBody>
                  <a:tcPr marL="68580" marR="68580" marT="0" marB="0"/>
                </a:tc>
                <a:extLst>
                  <a:ext uri="{0D108BD9-81ED-4DB2-BD59-A6C34878D82A}">
                    <a16:rowId xmlns:a16="http://schemas.microsoft.com/office/drawing/2014/main" val="4065162707"/>
                  </a:ext>
                </a:extLst>
              </a:tr>
              <a:tr h="1005331">
                <a:tc>
                  <a:txBody>
                    <a:bodyPr/>
                    <a:lstStyle/>
                    <a:p>
                      <a:pPr marL="0" marR="0" algn="ctr">
                        <a:lnSpc>
                          <a:spcPct val="115000"/>
                        </a:lnSpc>
                        <a:spcAft>
                          <a:spcPts val="800"/>
                        </a:spcAft>
                        <a:buNone/>
                      </a:pPr>
                      <a:r>
                        <a:rPr lang="en-US" sz="2000" kern="100" dirty="0">
                          <a:effectLst/>
                          <a:latin typeface="Times New Roman" panose="02020603050405020304" pitchFamily="18" charset="0"/>
                          <a:ea typeface="Aptos" panose="020B0004020202020204" pitchFamily="34" charset="0"/>
                          <a:cs typeface="Arial" panose="020B0604020202020204" pitchFamily="34" charset="0"/>
                        </a:rPr>
                        <a:t>Equilibrium crude processing rate by type  </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a:buNone/>
                      </a:pPr>
                      <a:endParaRPr lang="en-US" sz="2000" kern="100" dirty="0">
                        <a:effectLst/>
                        <a:latin typeface="Aptos" panose="020B0004020202020204" pitchFamily="34" charset="0"/>
                      </a:endParaRPr>
                    </a:p>
                  </a:txBody>
                  <a:tcPr marL="68580" marR="68580" marT="0" marB="0"/>
                </a:tc>
                <a:extLst>
                  <a:ext uri="{0D108BD9-81ED-4DB2-BD59-A6C34878D82A}">
                    <a16:rowId xmlns:a16="http://schemas.microsoft.com/office/drawing/2014/main" val="4270784192"/>
                  </a:ext>
                </a:extLst>
              </a:tr>
              <a:tr h="489904">
                <a:tc>
                  <a:txBody>
                    <a:bodyPr/>
                    <a:lstStyle/>
                    <a:p>
                      <a:pPr marL="0" marR="0" algn="ctr">
                        <a:lnSpc>
                          <a:spcPct val="115000"/>
                        </a:lnSpc>
                        <a:spcAft>
                          <a:spcPts val="800"/>
                        </a:spcAft>
                        <a:buNone/>
                      </a:pPr>
                      <a:r>
                        <a:rPr lang="en-US" sz="2000" kern="100">
                          <a:effectLst/>
                        </a:rPr>
                        <a:t>Qtot</a:t>
                      </a:r>
                      <a:endParaRPr lang="en-US" sz="20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ctr">
                        <a:lnSpc>
                          <a:spcPct val="115000"/>
                        </a:lnSpc>
                        <a:spcAft>
                          <a:spcPts val="800"/>
                        </a:spcAft>
                        <a:buNone/>
                      </a:pPr>
                      <a:r>
                        <a:rPr lang="en-US" sz="2000" kern="100" dirty="0">
                          <a:effectLst/>
                        </a:rPr>
                        <a:t>140,000 </a:t>
                      </a:r>
                      <a:r>
                        <a:rPr lang="en-US" sz="2000" kern="100" dirty="0" err="1">
                          <a:effectLst/>
                        </a:rPr>
                        <a:t>bbl</a:t>
                      </a:r>
                      <a:r>
                        <a:rPr lang="en-US" sz="2000" kern="100" dirty="0">
                          <a:effectLst/>
                        </a:rPr>
                        <a:t>/day</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459478771"/>
                  </a:ext>
                </a:extLst>
              </a:tr>
            </a:tbl>
          </a:graphicData>
        </a:graphic>
      </p:graphicFrame>
      <p:sp>
        <p:nvSpPr>
          <p:cNvPr id="23" name="TextBox 22">
            <a:extLst>
              <a:ext uri="{FF2B5EF4-FFF2-40B4-BE49-F238E27FC236}">
                <a16:creationId xmlns:a16="http://schemas.microsoft.com/office/drawing/2014/main" id="{F85F17B8-9F98-6C99-3183-9FCC1A34E7EC}"/>
              </a:ext>
            </a:extLst>
          </p:cNvPr>
          <p:cNvSpPr txBox="1"/>
          <p:nvPr/>
        </p:nvSpPr>
        <p:spPr>
          <a:xfrm>
            <a:off x="8420102" y="2761489"/>
            <a:ext cx="1676398" cy="584775"/>
          </a:xfrm>
          <a:prstGeom prst="rect">
            <a:avLst/>
          </a:prstGeom>
          <a:noFill/>
        </p:spPr>
        <p:txBody>
          <a:bodyPr wrap="square" rtlCol="0">
            <a:spAutoFit/>
          </a:bodyPr>
          <a:lstStyle/>
          <a:p>
            <a:r>
              <a:rPr lang="en-US" sz="3200" b="1" dirty="0">
                <a:solidFill>
                  <a:srgbClr val="0070C0"/>
                </a:solidFill>
              </a:rPr>
              <a:t>MCP</a:t>
            </a:r>
          </a:p>
        </p:txBody>
      </p:sp>
      <p:pic>
        <p:nvPicPr>
          <p:cNvPr id="2" name="Picture 1">
            <a:extLst>
              <a:ext uri="{FF2B5EF4-FFF2-40B4-BE49-F238E27FC236}">
                <a16:creationId xmlns:a16="http://schemas.microsoft.com/office/drawing/2014/main" id="{9909EB00-9E30-AC54-6ACC-24B1F5FD5B26}"/>
              </a:ext>
            </a:extLst>
          </p:cNvPr>
          <p:cNvPicPr>
            <a:picLocks noChangeAspect="1"/>
          </p:cNvPicPr>
          <p:nvPr/>
        </p:nvPicPr>
        <p:blipFill>
          <a:blip r:embed="rId4"/>
          <a:stretch>
            <a:fillRect/>
          </a:stretch>
        </p:blipFill>
        <p:spPr>
          <a:xfrm>
            <a:off x="9767887" y="5013084"/>
            <a:ext cx="1571625" cy="704850"/>
          </a:xfrm>
          <a:prstGeom prst="rect">
            <a:avLst/>
          </a:prstGeom>
        </p:spPr>
      </p:pic>
      <p:pic>
        <p:nvPicPr>
          <p:cNvPr id="9" name="Picture 8">
            <a:extLst>
              <a:ext uri="{FF2B5EF4-FFF2-40B4-BE49-F238E27FC236}">
                <a16:creationId xmlns:a16="http://schemas.microsoft.com/office/drawing/2014/main" id="{A675E2C7-0651-82D3-94B1-574DDD810CF2}"/>
              </a:ext>
            </a:extLst>
          </p:cNvPr>
          <p:cNvPicPr>
            <a:picLocks noChangeAspect="1"/>
          </p:cNvPicPr>
          <p:nvPr/>
        </p:nvPicPr>
        <p:blipFill>
          <a:blip r:embed="rId5"/>
          <a:stretch>
            <a:fillRect/>
          </a:stretch>
        </p:blipFill>
        <p:spPr>
          <a:xfrm>
            <a:off x="7700746" y="6484126"/>
            <a:ext cx="3115110" cy="304843"/>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093016E2-63A5-DAC8-339C-5631C9676FAE}"/>
              </a:ext>
            </a:extLst>
          </p:cNvPr>
          <p:cNvPicPr>
            <a:picLocks noChangeAspect="1"/>
          </p:cNvPicPr>
          <p:nvPr/>
        </p:nvPicPr>
        <p:blipFill>
          <a:blip r:embed="rId6"/>
          <a:stretch>
            <a:fillRect/>
          </a:stretch>
        </p:blipFill>
        <p:spPr>
          <a:xfrm>
            <a:off x="9529618" y="3931039"/>
            <a:ext cx="2048161" cy="829645"/>
          </a:xfrm>
          <a:prstGeom prst="rect">
            <a:avLst/>
          </a:prstGeom>
        </p:spPr>
      </p:pic>
    </p:spTree>
    <p:extLst>
      <p:ext uri="{BB962C8B-B14F-4D97-AF65-F5344CB8AC3E}">
        <p14:creationId xmlns:p14="http://schemas.microsoft.com/office/powerpoint/2010/main" val="3395190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8D459-42BD-16CB-AE40-834A5A26894D}"/>
            </a:ext>
          </a:extLst>
        </p:cNvPr>
        <p:cNvGrpSpPr/>
        <p:nvPr/>
      </p:nvGrpSpPr>
      <p:grpSpPr>
        <a:xfrm>
          <a:off x="0" y="0"/>
          <a:ext cx="0" cy="0"/>
          <a:chOff x="0" y="0"/>
          <a:chExt cx="0" cy="0"/>
        </a:xfrm>
      </p:grpSpPr>
      <p:sp>
        <p:nvSpPr>
          <p:cNvPr id="4" name="AutoShape 7">
            <a:extLst>
              <a:ext uri="{FF2B5EF4-FFF2-40B4-BE49-F238E27FC236}">
                <a16:creationId xmlns:a16="http://schemas.microsoft.com/office/drawing/2014/main" id="{E902DB3F-8F9F-001D-7346-81428959B64F}"/>
              </a:ext>
            </a:extLst>
          </p:cNvPr>
          <p:cNvSpPr/>
          <p:nvPr/>
        </p:nvSpPr>
        <p:spPr>
          <a:xfrm>
            <a:off x="36669" y="466690"/>
            <a:ext cx="11839074" cy="0"/>
          </a:xfrm>
          <a:prstGeom prst="line">
            <a:avLst/>
          </a:prstGeom>
          <a:ln w="28575" cap="flat">
            <a:solidFill>
              <a:srgbClr val="D1D5D9"/>
            </a:solidFill>
            <a:prstDash val="solid"/>
            <a:headEnd type="none" w="sm" len="sm"/>
            <a:tailEnd type="none" w="sm" len="sm"/>
          </a:ln>
        </p:spPr>
        <p:txBody>
          <a:bodyPr/>
          <a:lstStyle/>
          <a:p>
            <a:endParaRPr lang="en-US" sz="1200"/>
          </a:p>
        </p:txBody>
      </p:sp>
      <p:sp>
        <p:nvSpPr>
          <p:cNvPr id="6" name="TextBox 5">
            <a:extLst>
              <a:ext uri="{FF2B5EF4-FFF2-40B4-BE49-F238E27FC236}">
                <a16:creationId xmlns:a16="http://schemas.microsoft.com/office/drawing/2014/main" id="{7639B5B1-03C5-B1CE-D01A-5E3E60676575}"/>
              </a:ext>
            </a:extLst>
          </p:cNvPr>
          <p:cNvSpPr txBox="1"/>
          <p:nvPr/>
        </p:nvSpPr>
        <p:spPr>
          <a:xfrm>
            <a:off x="112295" y="16042"/>
            <a:ext cx="9881937" cy="461665"/>
          </a:xfrm>
          <a:prstGeom prst="rect">
            <a:avLst/>
          </a:prstGeom>
          <a:noFill/>
        </p:spPr>
        <p:txBody>
          <a:bodyPr wrap="square">
            <a:spAutoFit/>
          </a:bodyPr>
          <a:lstStyle/>
          <a:p>
            <a:r>
              <a:rPr lang="en-US" sz="2400" b="1" dirty="0">
                <a:solidFill>
                  <a:schemeClr val="accent1"/>
                </a:solidFill>
                <a:latin typeface="Calibri" panose="020F0502020204030204" pitchFamily="34" charset="0"/>
                <a:ea typeface="Calibri" panose="020F0502020204030204" pitchFamily="34" charset="0"/>
                <a:cs typeface="Times New Roman" panose="02020603050405020304" pitchFamily="18" charset="0"/>
              </a:rPr>
              <a:t>Vision for Future Advancement/Expansion: </a:t>
            </a:r>
          </a:p>
        </p:txBody>
      </p:sp>
      <p:sp>
        <p:nvSpPr>
          <p:cNvPr id="13" name="TextBox 12">
            <a:extLst>
              <a:ext uri="{FF2B5EF4-FFF2-40B4-BE49-F238E27FC236}">
                <a16:creationId xmlns:a16="http://schemas.microsoft.com/office/drawing/2014/main" id="{1B65DCA9-05F2-9AF7-F21C-97E473DB7961}"/>
              </a:ext>
            </a:extLst>
          </p:cNvPr>
          <p:cNvSpPr txBox="1"/>
          <p:nvPr/>
        </p:nvSpPr>
        <p:spPr>
          <a:xfrm>
            <a:off x="42284" y="563302"/>
            <a:ext cx="11904297" cy="6165021"/>
          </a:xfrm>
          <a:prstGeom prst="rect">
            <a:avLst/>
          </a:prstGeom>
          <a:noFill/>
        </p:spPr>
        <p:txBody>
          <a:bodyPr wrap="square">
            <a:spAutoFit/>
          </a:bodyPr>
          <a:lstStyle/>
          <a:p>
            <a:pPr marL="800100" lvl="1" indent="-342900" algn="just">
              <a:lnSpc>
                <a:spcPct val="200000"/>
              </a:lnSpc>
              <a:buFont typeface="Arial" panose="020B0604020202020204" pitchFamily="34" charset="0"/>
              <a:buChar char="•"/>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Centralized Optimization Platform: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Expand the model into a centralized system that optimizes the entire refined products supply </a:t>
            </a:r>
            <a:r>
              <a:rPr lang="en-US" sz="2000" kern="100" dirty="0">
                <a:latin typeface="Aptos" panose="020B0004020202020204" pitchFamily="34" charset="0"/>
                <a:cs typeface="Times New Roman" panose="02020603050405020304" pitchFamily="18" charset="0"/>
              </a:rPr>
              <a:t>chain and find the most efficient way to meet the whole demand (by coordinating refineries production levels, pipeline, and shipping routes.</a:t>
            </a:r>
          </a:p>
          <a:p>
            <a:pPr marL="800100" lvl="1" indent="-342900" algn="just">
              <a:lnSpc>
                <a:spcPct val="200000"/>
              </a:lnSpc>
              <a:buFont typeface="Arial" panose="020B0604020202020204" pitchFamily="34" charset="0"/>
              <a:buChar char="•"/>
            </a:pPr>
            <a:r>
              <a:rPr lang="en-US" sz="2000" b="1" kern="100" dirty="0">
                <a:latin typeface="Aptos" panose="020B0004020202020204" pitchFamily="34" charset="0"/>
                <a:ea typeface="Aptos" panose="020B0004020202020204" pitchFamily="34" charset="0"/>
                <a:cs typeface="Times New Roman" panose="02020603050405020304" pitchFamily="18" charset="0"/>
              </a:rPr>
              <a:t>Synchronizing Operations and Logistics: </a:t>
            </a:r>
            <a:r>
              <a:rPr lang="en-US" sz="2000" kern="100" dirty="0">
                <a:latin typeface="Aptos" panose="020B0004020202020204" pitchFamily="34" charset="0"/>
                <a:ea typeface="Aptos" panose="020B0004020202020204" pitchFamily="34" charset="0"/>
                <a:cs typeface="Times New Roman" panose="02020603050405020304" pitchFamily="18" charset="0"/>
              </a:rPr>
              <a:t>Integrating the operational and logistical aspects into this unified system, considering maintenance activities schedule, storage capacity, production rates, and demand commitment</a:t>
            </a:r>
          </a:p>
          <a:p>
            <a:pPr marL="800100" lvl="1" indent="-342900" algn="just">
              <a:lnSpc>
                <a:spcPct val="200000"/>
              </a:lnSpc>
              <a:buFont typeface="Arial" panose="020B0604020202020204" pitchFamily="34" charset="0"/>
              <a:buChar char="•"/>
            </a:pPr>
            <a:r>
              <a:rPr lang="en-US" sz="2000" b="1" kern="100" dirty="0">
                <a:latin typeface="Aptos" panose="020B0004020202020204" pitchFamily="34" charset="0"/>
                <a:ea typeface="Aptos" panose="020B0004020202020204" pitchFamily="34" charset="0"/>
                <a:cs typeface="Times New Roman" panose="02020603050405020304" pitchFamily="18" charset="0"/>
              </a:rPr>
              <a:t>Smart Advisory Tool : </a:t>
            </a:r>
            <a:r>
              <a:rPr lang="en-US" sz="2000" kern="100" dirty="0">
                <a:latin typeface="Aptos" panose="020B0004020202020204" pitchFamily="34" charset="0"/>
                <a:ea typeface="Aptos" panose="020B0004020202020204" pitchFamily="34" charset="0"/>
                <a:cs typeface="Times New Roman" panose="02020603050405020304" pitchFamily="18" charset="0"/>
              </a:rPr>
              <a:t>Using advancing monitoring tools to improve planning accuracy, reduce downtime, avoid major maintenance activities overlap, and maintain on-spec products</a:t>
            </a:r>
          </a:p>
          <a:p>
            <a:pPr marL="800100" lvl="1" indent="-342900" algn="just">
              <a:lnSpc>
                <a:spcPct val="200000"/>
              </a:lnSpc>
              <a:buFont typeface="Arial" panose="020B0604020202020204" pitchFamily="34" charset="0"/>
              <a:buChar char="•"/>
            </a:pPr>
            <a:r>
              <a:rPr lang="en-US" sz="2000" b="1" kern="100" dirty="0">
                <a:latin typeface="Aptos" panose="020B0004020202020204" pitchFamily="34" charset="0"/>
                <a:ea typeface="Aptos" panose="020B0004020202020204" pitchFamily="34" charset="0"/>
                <a:cs typeface="Times New Roman" panose="02020603050405020304" pitchFamily="18" charset="0"/>
              </a:rPr>
              <a:t>Long-Term Reliability: </a:t>
            </a:r>
            <a:r>
              <a:rPr lang="en-US" sz="2000" kern="100" dirty="0">
                <a:latin typeface="Aptos" panose="020B0004020202020204" pitchFamily="34" charset="0"/>
                <a:ea typeface="Aptos" panose="020B0004020202020204" pitchFamily="34" charset="0"/>
                <a:cs typeface="Times New Roman" panose="02020603050405020304" pitchFamily="18" charset="0"/>
              </a:rPr>
              <a:t>Introduce performance KPIs that measure supply reliability and customer satisfaction, aiming for continuous improvement </a:t>
            </a:r>
          </a:p>
        </p:txBody>
      </p:sp>
    </p:spTree>
    <p:extLst>
      <p:ext uri="{BB962C8B-B14F-4D97-AF65-F5344CB8AC3E}">
        <p14:creationId xmlns:p14="http://schemas.microsoft.com/office/powerpoint/2010/main" val="38801408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F627F-3CC7-CC0F-F4D5-0BFADC0852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FC9A96-0C5F-A2E2-6117-722B80ECB659}"/>
              </a:ext>
            </a:extLst>
          </p:cNvPr>
          <p:cNvSpPr>
            <a:spLocks noGrp="1"/>
          </p:cNvSpPr>
          <p:nvPr>
            <p:ph type="ctrTitle"/>
          </p:nvPr>
        </p:nvSpPr>
        <p:spPr>
          <a:xfrm>
            <a:off x="369971" y="2273900"/>
            <a:ext cx="10803672" cy="1155100"/>
          </a:xfrm>
        </p:spPr>
        <p:txBody>
          <a:bodyPr>
            <a:normAutofit/>
          </a:bodyPr>
          <a:lstStyle/>
          <a:p>
            <a:pPr algn="ctr"/>
            <a:r>
              <a:rPr lang="en-US" sz="4800" dirty="0"/>
              <a:t>Thank you </a:t>
            </a:r>
          </a:p>
        </p:txBody>
      </p:sp>
    </p:spTree>
    <p:extLst>
      <p:ext uri="{BB962C8B-B14F-4D97-AF65-F5344CB8AC3E}">
        <p14:creationId xmlns:p14="http://schemas.microsoft.com/office/powerpoint/2010/main" val="1452977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24.8|18.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1584</TotalTime>
  <Words>1739</Words>
  <Application>Microsoft Office PowerPoint</Application>
  <PresentationFormat>Widescreen</PresentationFormat>
  <Paragraphs>144</Paragraphs>
  <Slides>9</Slides>
  <Notes>9</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9</vt:i4>
      </vt:variant>
    </vt:vector>
  </HeadingPairs>
  <TitlesOfParts>
    <vt:vector size="20" baseType="lpstr">
      <vt:lpstr>Aptos</vt:lpstr>
      <vt:lpstr>Aptos Display</vt:lpstr>
      <vt:lpstr>Arial</vt:lpstr>
      <vt:lpstr>Calibri</vt:lpstr>
      <vt:lpstr>Cambria Math</vt:lpstr>
      <vt:lpstr>Gotham</vt:lpstr>
      <vt:lpstr>Gotham Book</vt:lpstr>
      <vt:lpstr>Times New Roman</vt:lpstr>
      <vt:lpstr>Wingdings</vt:lpstr>
      <vt:lpstr>Office Theme</vt:lpstr>
      <vt:lpstr>1_Office Theme</vt:lpstr>
      <vt:lpstr>Optimizing Refinery Operations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Abdulrahman Alturki</dc:creator>
  <cp:lastModifiedBy>Abdulrahman Alturki</cp:lastModifiedBy>
  <cp:revision>1</cp:revision>
  <dcterms:created xsi:type="dcterms:W3CDTF">2025-10-19T03:04:44Z</dcterms:created>
  <dcterms:modified xsi:type="dcterms:W3CDTF">2025-12-01T03:54:34Z</dcterms:modified>
</cp:coreProperties>
</file>